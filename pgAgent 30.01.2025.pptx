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58" r:id="rId5"/>
    <p:sldId id="263" r:id="rId6"/>
    <p:sldId id="272" r:id="rId7"/>
    <p:sldId id="273" r:id="rId8"/>
    <p:sldId id="262" r:id="rId9"/>
    <p:sldId id="268" r:id="rId10"/>
    <p:sldId id="271" r:id="rId11"/>
    <p:sldId id="274" r:id="rId12"/>
    <p:sldId id="275" r:id="rId13"/>
    <p:sldId id="276" r:id="rId14"/>
    <p:sldId id="270" r:id="rId15"/>
    <p:sldId id="269" r:id="rId16"/>
    <p:sldId id="267" r:id="rId17"/>
    <p:sldId id="261" r:id="rId18"/>
  </p:sldIdLst>
  <p:sldSz cx="18288000" cy="10287000"/>
  <p:notesSz cx="6858000" cy="9144000"/>
  <p:embeddedFontLst>
    <p:embeddedFont>
      <p:font typeface="Bahnschrift" panose="020B0502040204020203" pitchFamily="34" charset="0"/>
      <p:regular r:id="rId19"/>
      <p:bold r:id="rId20"/>
    </p:embeddedFont>
    <p:embeddedFont>
      <p:font typeface="Bricolage Grotesque 18 Condensed Bold" panose="020B0604020202020204" charset="0"/>
      <p:regular r:id="rId21"/>
    </p:embeddedFont>
    <p:embeddedFont>
      <p:font typeface="Canva Sans" panose="020B0604020202020204" charset="0"/>
      <p:regular r:id="rId22"/>
    </p:embeddedFont>
    <p:embeddedFont>
      <p:font typeface="Canva Sans Bold" panose="020B0604020202020204" charset="0"/>
      <p:regular r:id="rId23"/>
    </p:embeddedFont>
    <p:embeddedFont>
      <p:font typeface="Kollektif" panose="020B0604020202020204" charset="0"/>
      <p:regular r:id="rId24"/>
    </p:embeddedFont>
    <p:embeddedFont>
      <p:font typeface="Kollektif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120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383806" y="0"/>
            <a:ext cx="3088591" cy="10287000"/>
            <a:chOff x="0" y="0"/>
            <a:chExt cx="813456" cy="2709333"/>
          </a:xfrm>
        </p:grpSpPr>
        <p:sp>
          <p:nvSpPr>
            <p:cNvPr id="3" name="Freeform 3"/>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p:cNvSpPr txBox="1"/>
            <p:nvPr/>
          </p:nvSpPr>
          <p:spPr>
            <a:xfrm>
              <a:off x="0" y="-28575"/>
              <a:ext cx="813456" cy="2737908"/>
            </a:xfrm>
            <a:prstGeom prst="rect">
              <a:avLst/>
            </a:prstGeom>
          </p:spPr>
          <p:txBody>
            <a:bodyPr lIns="50800" tIns="50800" rIns="50800" bIns="50800" rtlCol="0" anchor="ctr"/>
            <a:lstStyle/>
            <a:p>
              <a:pPr marL="0" lvl="0" indent="0" algn="ctr">
                <a:lnSpc>
                  <a:spcPts val="2852"/>
                </a:lnSpc>
                <a:spcBef>
                  <a:spcPct val="0"/>
                </a:spcBef>
              </a:pPr>
              <a:endParaRPr/>
            </a:p>
          </p:txBody>
        </p:sp>
      </p:grpSp>
      <p:sp>
        <p:nvSpPr>
          <p:cNvPr id="5" name="Freeform 5"/>
          <p:cNvSpPr/>
          <p:nvPr/>
        </p:nvSpPr>
        <p:spPr>
          <a:xfrm rot="-5400000">
            <a:off x="-1927619" y="4207228"/>
            <a:ext cx="8543440" cy="1872544"/>
          </a:xfrm>
          <a:custGeom>
            <a:avLst/>
            <a:gdLst/>
            <a:ahLst/>
            <a:cxnLst/>
            <a:rect l="l" t="t" r="r" b="b"/>
            <a:pathLst>
              <a:path w="8543440" h="1872544">
                <a:moveTo>
                  <a:pt x="0" y="0"/>
                </a:moveTo>
                <a:lnTo>
                  <a:pt x="8543440" y="0"/>
                </a:lnTo>
                <a:lnTo>
                  <a:pt x="8543440" y="1872544"/>
                </a:lnTo>
                <a:lnTo>
                  <a:pt x="0" y="1872544"/>
                </a:lnTo>
                <a:lnTo>
                  <a:pt x="0" y="0"/>
                </a:lnTo>
                <a:close/>
              </a:path>
            </a:pathLst>
          </a:custGeom>
          <a:blipFill>
            <a:blip r:embed="rId2">
              <a:extLst>
                <a:ext uri="{96DAC541-7B7A-43D3-8B79-37D633B846F1}">
                  <asvg:svgBlip xmlns:asvg="http://schemas.microsoft.com/office/drawing/2016/SVG/main" r:embed="rId3"/>
                </a:ext>
              </a:extLst>
            </a:blip>
            <a:stretch>
              <a:fillRect b="-38523"/>
            </a:stretch>
          </a:blipFill>
        </p:spPr>
      </p:sp>
      <p:sp>
        <p:nvSpPr>
          <p:cNvPr id="6" name="TextBox 6"/>
          <p:cNvSpPr txBox="1"/>
          <p:nvPr/>
        </p:nvSpPr>
        <p:spPr>
          <a:xfrm>
            <a:off x="3648552" y="2857500"/>
            <a:ext cx="10990896" cy="1748107"/>
          </a:xfrm>
          <a:prstGeom prst="rect">
            <a:avLst/>
          </a:prstGeom>
        </p:spPr>
        <p:txBody>
          <a:bodyPr lIns="0" tIns="0" rIns="0" bIns="0" rtlCol="0" anchor="t">
            <a:spAutoFit/>
          </a:bodyPr>
          <a:lstStyle/>
          <a:p>
            <a:pPr algn="ctr">
              <a:lnSpc>
                <a:spcPts val="7216"/>
              </a:lnSpc>
            </a:pPr>
            <a:r>
              <a:rPr lang="en-US" sz="5400" b="1" dirty="0">
                <a:solidFill>
                  <a:srgbClr val="227C9D"/>
                </a:solidFill>
                <a:latin typeface="Kollektif Bold"/>
                <a:ea typeface="Kollektif Bold"/>
                <a:cs typeface="Kollektif Bold"/>
                <a:sym typeface="Kollektif Bold"/>
              </a:rPr>
              <a:t>GROUP 6-</a:t>
            </a:r>
          </a:p>
          <a:p>
            <a:pPr marL="0" lvl="0" indent="0" algn="ctr">
              <a:lnSpc>
                <a:spcPts val="7216"/>
              </a:lnSpc>
            </a:pPr>
            <a:r>
              <a:rPr lang="en-US" sz="5400" b="1" u="none" strike="noStrike" dirty="0">
                <a:solidFill>
                  <a:srgbClr val="227C9D"/>
                </a:solidFill>
                <a:latin typeface="Kollektif Bold"/>
                <a:ea typeface="Kollektif Bold"/>
                <a:cs typeface="Kollektif Bold"/>
                <a:sym typeface="Kollektif Bold"/>
              </a:rPr>
              <a:t>PGAGENT TOOLS ENHANCEMENT</a:t>
            </a:r>
          </a:p>
        </p:txBody>
      </p:sp>
      <p:sp>
        <p:nvSpPr>
          <p:cNvPr id="7" name="TextBox 6">
            <a:extLst>
              <a:ext uri="{FF2B5EF4-FFF2-40B4-BE49-F238E27FC236}">
                <a16:creationId xmlns:a16="http://schemas.microsoft.com/office/drawing/2014/main" id="{948283EA-07DB-4AD4-912B-8FE1C22A107F}"/>
              </a:ext>
            </a:extLst>
          </p:cNvPr>
          <p:cNvSpPr txBox="1"/>
          <p:nvPr/>
        </p:nvSpPr>
        <p:spPr>
          <a:xfrm>
            <a:off x="12877800" y="8039100"/>
            <a:ext cx="5029200" cy="1200329"/>
          </a:xfrm>
          <a:prstGeom prst="rect">
            <a:avLst/>
          </a:prstGeom>
          <a:noFill/>
        </p:spPr>
        <p:txBody>
          <a:bodyPr wrap="square" rtlCol="0">
            <a:spAutoFit/>
          </a:bodyPr>
          <a:lstStyle/>
          <a:p>
            <a:r>
              <a:rPr lang="en-GB" sz="2400" b="1" dirty="0">
                <a:latin typeface="Bahnschrift" panose="020B0502040204020203" pitchFamily="34" charset="0"/>
              </a:rPr>
              <a:t>BRIAN CHRISTOPHER  R6B-30</a:t>
            </a:r>
          </a:p>
          <a:p>
            <a:endParaRPr lang="en-GB" sz="2400" b="1" dirty="0">
              <a:latin typeface="Bahnschrift" panose="020B0502040204020203" pitchFamily="34" charset="0"/>
            </a:endParaRPr>
          </a:p>
          <a:p>
            <a:r>
              <a:rPr lang="en-GB" sz="2400" b="1" dirty="0">
                <a:latin typeface="Bahnschrift" panose="020B0502040204020203" pitchFamily="34" charset="0"/>
              </a:rPr>
              <a:t>JOEL DANIEL PRADEEP R6B-42</a:t>
            </a:r>
            <a:endParaRPr lang="en-IN" sz="2400" b="1" dirty="0">
              <a:latin typeface="Bahnschrift" panose="020B0502040204020203" pitchFamily="34" charset="0"/>
            </a:endParaRPr>
          </a:p>
        </p:txBody>
      </p:sp>
      <p:sp>
        <p:nvSpPr>
          <p:cNvPr id="8" name="TextBox 7">
            <a:extLst>
              <a:ext uri="{FF2B5EF4-FFF2-40B4-BE49-F238E27FC236}">
                <a16:creationId xmlns:a16="http://schemas.microsoft.com/office/drawing/2014/main" id="{AAAE6A99-6552-87D2-CE56-2BAE265773FC}"/>
              </a:ext>
            </a:extLst>
          </p:cNvPr>
          <p:cNvSpPr txBox="1"/>
          <p:nvPr/>
        </p:nvSpPr>
        <p:spPr>
          <a:xfrm>
            <a:off x="5943600" y="5603965"/>
            <a:ext cx="10591800" cy="646331"/>
          </a:xfrm>
          <a:prstGeom prst="rect">
            <a:avLst/>
          </a:prstGeom>
          <a:noFill/>
        </p:spPr>
        <p:txBody>
          <a:bodyPr wrap="square" rtlCol="0">
            <a:spAutoFit/>
          </a:bodyPr>
          <a:lstStyle/>
          <a:p>
            <a:r>
              <a:rPr lang="en-US" sz="3600" dirty="0">
                <a:solidFill>
                  <a:schemeClr val="accent5">
                    <a:lumMod val="75000"/>
                  </a:schemeClr>
                </a:solidFill>
                <a:latin typeface="Kollektif Bold" panose="020B0604020202020204" charset="0"/>
              </a:rPr>
              <a:t>IN COLLABORATION WITH IITM PRAVARTAK</a:t>
            </a:r>
            <a:endParaRPr lang="en-IN" sz="3600" dirty="0">
              <a:solidFill>
                <a:schemeClr val="accent5">
                  <a:lumMod val="75000"/>
                </a:schemeClr>
              </a:solidFill>
              <a:latin typeface="Kollektif Bold" panose="020B06040202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877281" y="0"/>
            <a:ext cx="3088591" cy="10287000"/>
            <a:chOff x="0" y="0"/>
            <a:chExt cx="813456" cy="2709333"/>
          </a:xfrm>
        </p:grpSpPr>
        <p:sp>
          <p:nvSpPr>
            <p:cNvPr id="3" name="Freeform 3"/>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p:cNvSpPr/>
          <p:nvPr/>
        </p:nvSpPr>
        <p:spPr>
          <a:xfrm>
            <a:off x="-3725255" y="689027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446365" y="-4374572"/>
            <a:ext cx="7450509" cy="7450509"/>
          </a:xfrm>
          <a:custGeom>
            <a:avLst/>
            <a:gdLst/>
            <a:ahLst/>
            <a:cxnLst/>
            <a:rect l="l" t="t" r="r" b="b"/>
            <a:pathLst>
              <a:path w="7450509" h="7450509">
                <a:moveTo>
                  <a:pt x="0" y="0"/>
                </a:moveTo>
                <a:lnTo>
                  <a:pt x="7450509" y="0"/>
                </a:lnTo>
                <a:lnTo>
                  <a:pt x="7450509"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5767240" y="1965784"/>
            <a:ext cx="7592570" cy="628377"/>
          </a:xfrm>
          <a:prstGeom prst="rect">
            <a:avLst/>
          </a:prstGeom>
        </p:spPr>
        <p:txBody>
          <a:bodyPr lIns="0" tIns="0" rIns="0" bIns="0" rtlCol="0" anchor="t">
            <a:spAutoFit/>
          </a:bodyPr>
          <a:lstStyle/>
          <a:p>
            <a:pPr algn="ctr">
              <a:lnSpc>
                <a:spcPts val="4944"/>
              </a:lnSpc>
            </a:pPr>
            <a:r>
              <a:rPr lang="en-US" sz="4994" b="1" dirty="0">
                <a:solidFill>
                  <a:srgbClr val="227C9D"/>
                </a:solidFill>
                <a:latin typeface="Kollektif Bold"/>
                <a:ea typeface="Kollektif Bold"/>
                <a:cs typeface="Kollektif Bold"/>
                <a:sym typeface="Kollektif Bold"/>
              </a:rPr>
              <a:t>WHAT IS PGAGENT?</a:t>
            </a:r>
          </a:p>
        </p:txBody>
      </p:sp>
      <p:sp>
        <p:nvSpPr>
          <p:cNvPr id="8" name="TextBox 8"/>
          <p:cNvSpPr txBox="1"/>
          <p:nvPr/>
        </p:nvSpPr>
        <p:spPr>
          <a:xfrm>
            <a:off x="2889918" y="3517397"/>
            <a:ext cx="14132921" cy="2968248"/>
          </a:xfrm>
          <a:prstGeom prst="rect">
            <a:avLst/>
          </a:prstGeom>
        </p:spPr>
        <p:txBody>
          <a:bodyPr lIns="0" tIns="0" rIns="0" bIns="0" rtlCol="0" anchor="t">
            <a:spAutoFit/>
          </a:bodyPr>
          <a:lstStyle/>
          <a:p>
            <a:pPr algn="l">
              <a:lnSpc>
                <a:spcPts val="4735"/>
              </a:lnSpc>
            </a:pPr>
            <a:r>
              <a:rPr lang="en-US" sz="2997" dirty="0" err="1">
                <a:solidFill>
                  <a:srgbClr val="000000"/>
                </a:solidFill>
                <a:latin typeface="Kollektif"/>
                <a:ea typeface="Kollektif"/>
                <a:cs typeface="Kollektif"/>
                <a:sym typeface="Kollektif"/>
              </a:rPr>
              <a:t>pgAgent</a:t>
            </a:r>
            <a:r>
              <a:rPr lang="en-US" sz="2997" dirty="0">
                <a:solidFill>
                  <a:srgbClr val="000000"/>
                </a:solidFill>
                <a:latin typeface="Kollektif"/>
                <a:ea typeface="Kollektif"/>
                <a:cs typeface="Kollektif"/>
                <a:sym typeface="Kollektif"/>
              </a:rPr>
              <a:t> is an open-source job scheduling agent for PostgreSQL. It automates database tasks like backups, maintenance, and reports.</a:t>
            </a:r>
          </a:p>
          <a:p>
            <a:pPr algn="l">
              <a:lnSpc>
                <a:spcPts val="4735"/>
              </a:lnSpc>
            </a:pPr>
            <a:endParaRPr lang="en-US" sz="2997" dirty="0">
              <a:solidFill>
                <a:srgbClr val="000000"/>
              </a:solidFill>
              <a:latin typeface="Kollektif"/>
              <a:ea typeface="Kollektif"/>
              <a:cs typeface="Kollektif"/>
              <a:sym typeface="Kollektif"/>
            </a:endParaRPr>
          </a:p>
          <a:p>
            <a:pPr algn="l">
              <a:lnSpc>
                <a:spcPts val="4735"/>
              </a:lnSpc>
            </a:pPr>
            <a:r>
              <a:rPr lang="en-GB" sz="3200" dirty="0"/>
              <a:t>Scheduling and automation are critical for database management and system maintenance.</a:t>
            </a:r>
            <a:endParaRPr lang="en-US" sz="2997" dirty="0">
              <a:solidFill>
                <a:srgbClr val="000000"/>
              </a:solidFill>
              <a:latin typeface="Kollektif"/>
              <a:ea typeface="Kollektif"/>
              <a:cs typeface="Kollektif"/>
              <a:sym typeface="Kollektif"/>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3429605" y="6675164"/>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915707" y="1485077"/>
            <a:ext cx="5293738" cy="6462887"/>
            <a:chOff x="0" y="0"/>
            <a:chExt cx="1411784" cy="1723584"/>
          </a:xfrm>
        </p:grpSpPr>
        <p:sp>
          <p:nvSpPr>
            <p:cNvPr id="4" name="Freeform 4"/>
            <p:cNvSpPr/>
            <p:nvPr/>
          </p:nvSpPr>
          <p:spPr>
            <a:xfrm>
              <a:off x="0" y="0"/>
              <a:ext cx="1411784" cy="1723584"/>
            </a:xfrm>
            <a:custGeom>
              <a:avLst/>
              <a:gdLst/>
              <a:ahLst/>
              <a:cxnLst/>
              <a:rect l="l" t="t" r="r" b="b"/>
              <a:pathLst>
                <a:path w="1411784" h="1723584">
                  <a:moveTo>
                    <a:pt x="24862" y="0"/>
                  </a:moveTo>
                  <a:lnTo>
                    <a:pt x="1386922" y="0"/>
                  </a:lnTo>
                  <a:cubicBezTo>
                    <a:pt x="1393516" y="0"/>
                    <a:pt x="1399840" y="2619"/>
                    <a:pt x="1404502" y="7282"/>
                  </a:cubicBezTo>
                  <a:cubicBezTo>
                    <a:pt x="1409165" y="11944"/>
                    <a:pt x="1411784" y="18268"/>
                    <a:pt x="1411784" y="24862"/>
                  </a:cubicBezTo>
                  <a:lnTo>
                    <a:pt x="1411784" y="1698722"/>
                  </a:lnTo>
                  <a:cubicBezTo>
                    <a:pt x="1411784" y="1705316"/>
                    <a:pt x="1409165" y="1711640"/>
                    <a:pt x="1404502" y="1716302"/>
                  </a:cubicBezTo>
                  <a:cubicBezTo>
                    <a:pt x="1399840" y="1720965"/>
                    <a:pt x="1393516" y="1723584"/>
                    <a:pt x="1386922" y="1723584"/>
                  </a:cubicBezTo>
                  <a:lnTo>
                    <a:pt x="24862" y="1723584"/>
                  </a:lnTo>
                  <a:cubicBezTo>
                    <a:pt x="18268" y="1723584"/>
                    <a:pt x="11944" y="1720965"/>
                    <a:pt x="7282" y="1716302"/>
                  </a:cubicBezTo>
                  <a:cubicBezTo>
                    <a:pt x="2619" y="1711640"/>
                    <a:pt x="0" y="1705316"/>
                    <a:pt x="0" y="1698722"/>
                  </a:cubicBezTo>
                  <a:lnTo>
                    <a:pt x="0" y="24862"/>
                  </a:lnTo>
                  <a:cubicBezTo>
                    <a:pt x="0" y="18268"/>
                    <a:pt x="2619" y="11944"/>
                    <a:pt x="7282" y="7282"/>
                  </a:cubicBezTo>
                  <a:cubicBezTo>
                    <a:pt x="11944" y="2619"/>
                    <a:pt x="18268" y="0"/>
                    <a:pt x="24862" y="0"/>
                  </a:cubicBezTo>
                  <a:close/>
                </a:path>
              </a:pathLst>
            </a:custGeom>
            <a:solidFill>
              <a:srgbClr val="DFD3CA"/>
            </a:solidFill>
          </p:spPr>
        </p:sp>
        <p:sp>
          <p:nvSpPr>
            <p:cNvPr id="5" name="TextBox 5"/>
            <p:cNvSpPr txBox="1"/>
            <p:nvPr/>
          </p:nvSpPr>
          <p:spPr>
            <a:xfrm>
              <a:off x="0" y="-28575"/>
              <a:ext cx="1411784" cy="1752159"/>
            </a:xfrm>
            <a:prstGeom prst="rect">
              <a:avLst/>
            </a:prstGeom>
          </p:spPr>
          <p:txBody>
            <a:bodyPr lIns="50800" tIns="50800" rIns="50800" bIns="50800" rtlCol="0" anchor="ctr"/>
            <a:lstStyle/>
            <a:p>
              <a:pPr algn="ctr">
                <a:lnSpc>
                  <a:spcPts val="2852"/>
                </a:lnSpc>
              </a:pPr>
              <a:endParaRPr/>
            </a:p>
          </p:txBody>
        </p:sp>
      </p:grpSp>
      <p:sp>
        <p:nvSpPr>
          <p:cNvPr id="6" name="TextBox 6"/>
          <p:cNvSpPr txBox="1"/>
          <p:nvPr/>
        </p:nvSpPr>
        <p:spPr>
          <a:xfrm>
            <a:off x="1735004" y="2272560"/>
            <a:ext cx="15224929" cy="638865"/>
          </a:xfrm>
          <a:prstGeom prst="rect">
            <a:avLst/>
          </a:prstGeom>
        </p:spPr>
        <p:txBody>
          <a:bodyPr lIns="0" tIns="0" rIns="0" bIns="0" rtlCol="0" anchor="t">
            <a:spAutoFit/>
          </a:bodyPr>
          <a:lstStyle/>
          <a:p>
            <a:pPr algn="ctr">
              <a:lnSpc>
                <a:spcPts val="5211"/>
              </a:lnSpc>
            </a:pPr>
            <a:r>
              <a:rPr lang="en-US" sz="3722" b="1">
                <a:solidFill>
                  <a:srgbClr val="010101"/>
                </a:solidFill>
                <a:latin typeface="Bricolage Grotesque 18 Condensed Bold"/>
                <a:ea typeface="Bricolage Grotesque 18 Condensed Bold"/>
                <a:cs typeface="Bricolage Grotesque 18 Condensed Bold"/>
                <a:sym typeface="Bricolage Grotesque 18 Condensed Bold"/>
              </a:rPr>
              <a:t>Features selected</a:t>
            </a:r>
          </a:p>
        </p:txBody>
      </p:sp>
      <p:sp>
        <p:nvSpPr>
          <p:cNvPr id="15" name="TextBox 15"/>
          <p:cNvSpPr txBox="1"/>
          <p:nvPr/>
        </p:nvSpPr>
        <p:spPr>
          <a:xfrm>
            <a:off x="1735004" y="1854916"/>
            <a:ext cx="3992658" cy="1180334"/>
          </a:xfrm>
          <a:prstGeom prst="rect">
            <a:avLst/>
          </a:prstGeom>
        </p:spPr>
        <p:txBody>
          <a:bodyPr lIns="0" tIns="0" rIns="0" bIns="0" rtlCol="0" anchor="t">
            <a:spAutoFit/>
          </a:bodyPr>
          <a:lstStyle/>
          <a:p>
            <a:pPr algn="ctr">
              <a:lnSpc>
                <a:spcPts val="3150"/>
              </a:lnSpc>
            </a:pPr>
            <a:r>
              <a:rPr lang="en-US" sz="2250" b="1">
                <a:solidFill>
                  <a:srgbClr val="010101"/>
                </a:solidFill>
                <a:latin typeface="Canva Sans Bold"/>
                <a:ea typeface="Canva Sans Bold"/>
                <a:cs typeface="Canva Sans Bold"/>
                <a:sym typeface="Canva Sans Bold"/>
              </a:rPr>
              <a:t>Job Management Enhancements</a:t>
            </a:r>
          </a:p>
          <a:p>
            <a:pPr algn="ctr">
              <a:lnSpc>
                <a:spcPts val="3150"/>
              </a:lnSpc>
            </a:pPr>
            <a:endParaRPr lang="en-US" sz="2250" b="1">
              <a:solidFill>
                <a:srgbClr val="010101"/>
              </a:solidFill>
              <a:latin typeface="Canva Sans Bold"/>
              <a:ea typeface="Canva Sans Bold"/>
              <a:cs typeface="Canva Sans Bold"/>
              <a:sym typeface="Canva Sans Bold"/>
            </a:endParaRPr>
          </a:p>
        </p:txBody>
      </p:sp>
      <p:sp>
        <p:nvSpPr>
          <p:cNvPr id="17" name="TextBox 17"/>
          <p:cNvSpPr txBox="1"/>
          <p:nvPr/>
        </p:nvSpPr>
        <p:spPr>
          <a:xfrm>
            <a:off x="1792702" y="3866619"/>
            <a:ext cx="4079223" cy="3161828"/>
          </a:xfrm>
          <a:prstGeom prst="rect">
            <a:avLst/>
          </a:prstGeom>
        </p:spPr>
        <p:txBody>
          <a:bodyPr lIns="0" tIns="0" rIns="0" bIns="0" rtlCol="0" anchor="t">
            <a:spAutoFit/>
          </a:bodyPr>
          <a:lstStyle/>
          <a:p>
            <a:pPr algn="l">
              <a:lnSpc>
                <a:spcPts val="3075"/>
              </a:lnSpc>
            </a:pPr>
            <a:r>
              <a:rPr lang="en-GB" sz="2400" dirty="0"/>
              <a:t>Allows defining relationships between jobs to ensure execution order. For example, Job B will only start after Job A is successfully completed, which is crucial for workflows where tasks rely on the outputs of preceding jobs.</a:t>
            </a:r>
            <a:endParaRPr lang="en-US" sz="2196" dirty="0">
              <a:solidFill>
                <a:srgbClr val="010101"/>
              </a:solidFill>
              <a:latin typeface="Canva Sans"/>
              <a:ea typeface="Canva Sans"/>
              <a:cs typeface="Canva Sans"/>
              <a:sym typeface="Canva Sans"/>
            </a:endParaRPr>
          </a:p>
        </p:txBody>
      </p:sp>
      <p:sp>
        <p:nvSpPr>
          <p:cNvPr id="18" name="TextBox 18"/>
          <p:cNvSpPr txBox="1"/>
          <p:nvPr/>
        </p:nvSpPr>
        <p:spPr>
          <a:xfrm>
            <a:off x="1190211" y="3101925"/>
            <a:ext cx="4990079" cy="324256"/>
          </a:xfrm>
          <a:prstGeom prst="rect">
            <a:avLst/>
          </a:prstGeom>
        </p:spPr>
        <p:txBody>
          <a:bodyPr lIns="0" tIns="0" rIns="0" bIns="0" rtlCol="0" anchor="t">
            <a:spAutoFit/>
          </a:bodyPr>
          <a:lstStyle/>
          <a:p>
            <a:pPr algn="l">
              <a:lnSpc>
                <a:spcPts val="2730"/>
              </a:lnSpc>
            </a:pPr>
            <a:r>
              <a:rPr lang="en-US" sz="1950" b="1" dirty="0">
                <a:solidFill>
                  <a:srgbClr val="010101"/>
                </a:solidFill>
                <a:latin typeface="Canva Sans Bold"/>
                <a:ea typeface="Canva Sans Bold"/>
                <a:cs typeface="Canva Sans Bold"/>
                <a:sym typeface="Canva Sans Bold"/>
              </a:rPr>
              <a:t>36.2  Job Dependencies</a:t>
            </a:r>
          </a:p>
        </p:txBody>
      </p:sp>
      <p:sp>
        <p:nvSpPr>
          <p:cNvPr id="20" name="TextBox 20"/>
          <p:cNvSpPr txBox="1"/>
          <p:nvPr/>
        </p:nvSpPr>
        <p:spPr>
          <a:xfrm>
            <a:off x="12793296" y="3857094"/>
            <a:ext cx="4990079" cy="670505"/>
          </a:xfrm>
          <a:prstGeom prst="rect">
            <a:avLst/>
          </a:prstGeom>
        </p:spPr>
        <p:txBody>
          <a:bodyPr lIns="0" tIns="0" rIns="0" bIns="0" rtlCol="0" anchor="t">
            <a:spAutoFit/>
          </a:bodyPr>
          <a:lstStyle/>
          <a:p>
            <a:pPr algn="l">
              <a:lnSpc>
                <a:spcPts val="2730"/>
              </a:lnSpc>
            </a:pPr>
            <a:endParaRPr lang="en-US" sz="1950" b="1" dirty="0">
              <a:solidFill>
                <a:srgbClr val="010101"/>
              </a:solidFill>
              <a:latin typeface="Canva Sans Bold"/>
              <a:ea typeface="Canva Sans Bold"/>
              <a:cs typeface="Canva Sans Bold"/>
              <a:sym typeface="Canva Sans Bold"/>
            </a:endParaRPr>
          </a:p>
          <a:p>
            <a:pPr algn="l">
              <a:lnSpc>
                <a:spcPts val="2730"/>
              </a:lnSpc>
            </a:pPr>
            <a:endParaRPr lang="en-US" sz="1950" b="1" dirty="0">
              <a:solidFill>
                <a:srgbClr val="010101"/>
              </a:solidFill>
              <a:latin typeface="Canva Sans Bold"/>
              <a:ea typeface="Canva Sans Bold"/>
              <a:cs typeface="Canva Sans Bold"/>
              <a:sym typeface="Canva Sans Bold"/>
            </a:endParaRPr>
          </a:p>
        </p:txBody>
      </p:sp>
      <p:grpSp>
        <p:nvGrpSpPr>
          <p:cNvPr id="16" name="Group 10">
            <a:extLst>
              <a:ext uri="{FF2B5EF4-FFF2-40B4-BE49-F238E27FC236}">
                <a16:creationId xmlns:a16="http://schemas.microsoft.com/office/drawing/2014/main" id="{1EA22DF5-6A4F-4E81-A862-51AB808AC750}"/>
              </a:ext>
            </a:extLst>
          </p:cNvPr>
          <p:cNvGrpSpPr/>
          <p:nvPr/>
        </p:nvGrpSpPr>
        <p:grpSpPr>
          <a:xfrm>
            <a:off x="12485490" y="2104387"/>
            <a:ext cx="5381068" cy="7835582"/>
            <a:chOff x="-23290" y="-28575"/>
            <a:chExt cx="1435074" cy="2089668"/>
          </a:xfrm>
        </p:grpSpPr>
        <p:sp>
          <p:nvSpPr>
            <p:cNvPr id="21" name="Freeform 11">
              <a:extLst>
                <a:ext uri="{FF2B5EF4-FFF2-40B4-BE49-F238E27FC236}">
                  <a16:creationId xmlns:a16="http://schemas.microsoft.com/office/drawing/2014/main" id="{C637E618-652E-4763-876E-7E0DFCA929B2}"/>
                </a:ext>
              </a:extLst>
            </p:cNvPr>
            <p:cNvSpPr/>
            <p:nvPr/>
          </p:nvSpPr>
          <p:spPr>
            <a:xfrm>
              <a:off x="-23290" y="74714"/>
              <a:ext cx="1411784" cy="1986379"/>
            </a:xfrm>
            <a:custGeom>
              <a:avLst/>
              <a:gdLst/>
              <a:ahLst/>
              <a:cxnLst/>
              <a:rect l="l" t="t" r="r" b="b"/>
              <a:pathLst>
                <a:path w="1411784" h="1986379">
                  <a:moveTo>
                    <a:pt x="24862" y="0"/>
                  </a:moveTo>
                  <a:lnTo>
                    <a:pt x="1386922" y="0"/>
                  </a:lnTo>
                  <a:cubicBezTo>
                    <a:pt x="1393516" y="0"/>
                    <a:pt x="1399840" y="2619"/>
                    <a:pt x="1404502" y="7282"/>
                  </a:cubicBezTo>
                  <a:cubicBezTo>
                    <a:pt x="1409165" y="11944"/>
                    <a:pt x="1411784" y="18268"/>
                    <a:pt x="1411784" y="24862"/>
                  </a:cubicBezTo>
                  <a:lnTo>
                    <a:pt x="1411784" y="1961517"/>
                  </a:lnTo>
                  <a:cubicBezTo>
                    <a:pt x="1411784" y="1968110"/>
                    <a:pt x="1409165" y="1974434"/>
                    <a:pt x="1404502" y="1979097"/>
                  </a:cubicBezTo>
                  <a:cubicBezTo>
                    <a:pt x="1399840" y="1983759"/>
                    <a:pt x="1393516" y="1986379"/>
                    <a:pt x="1386922" y="1986379"/>
                  </a:cubicBezTo>
                  <a:lnTo>
                    <a:pt x="24862" y="1986379"/>
                  </a:lnTo>
                  <a:cubicBezTo>
                    <a:pt x="18268" y="1986379"/>
                    <a:pt x="11944" y="1983759"/>
                    <a:pt x="7282" y="1979097"/>
                  </a:cubicBezTo>
                  <a:cubicBezTo>
                    <a:pt x="2619" y="1974434"/>
                    <a:pt x="0" y="1968110"/>
                    <a:pt x="0" y="1961517"/>
                  </a:cubicBezTo>
                  <a:lnTo>
                    <a:pt x="0" y="24862"/>
                  </a:lnTo>
                  <a:cubicBezTo>
                    <a:pt x="0" y="18268"/>
                    <a:pt x="2619" y="11944"/>
                    <a:pt x="7282" y="7282"/>
                  </a:cubicBezTo>
                  <a:cubicBezTo>
                    <a:pt x="11944" y="2619"/>
                    <a:pt x="18268" y="0"/>
                    <a:pt x="24862" y="0"/>
                  </a:cubicBezTo>
                  <a:close/>
                </a:path>
              </a:pathLst>
            </a:custGeom>
            <a:solidFill>
              <a:srgbClr val="DFD3CA"/>
            </a:solidFill>
          </p:spPr>
        </p:sp>
        <p:sp>
          <p:nvSpPr>
            <p:cNvPr id="22" name="TextBox 12">
              <a:extLst>
                <a:ext uri="{FF2B5EF4-FFF2-40B4-BE49-F238E27FC236}">
                  <a16:creationId xmlns:a16="http://schemas.microsoft.com/office/drawing/2014/main" id="{2D311597-8E04-4B1D-B77B-0E6185A675AE}"/>
                </a:ext>
              </a:extLst>
            </p:cNvPr>
            <p:cNvSpPr txBox="1"/>
            <p:nvPr/>
          </p:nvSpPr>
          <p:spPr>
            <a:xfrm>
              <a:off x="0" y="-28575"/>
              <a:ext cx="1411784" cy="2014954"/>
            </a:xfrm>
            <a:prstGeom prst="rect">
              <a:avLst/>
            </a:prstGeom>
          </p:spPr>
          <p:txBody>
            <a:bodyPr lIns="50800" tIns="50800" rIns="50800" bIns="50800" rtlCol="0" anchor="ctr"/>
            <a:lstStyle/>
            <a:p>
              <a:pPr algn="ctr">
                <a:lnSpc>
                  <a:spcPts val="2852"/>
                </a:lnSpc>
              </a:pPr>
              <a:endParaRPr/>
            </a:p>
          </p:txBody>
        </p:sp>
      </p:grpSp>
      <p:sp>
        <p:nvSpPr>
          <p:cNvPr id="23" name="TextBox 22">
            <a:extLst>
              <a:ext uri="{FF2B5EF4-FFF2-40B4-BE49-F238E27FC236}">
                <a16:creationId xmlns:a16="http://schemas.microsoft.com/office/drawing/2014/main" id="{CBC0671D-E4F2-4CCF-81EA-51FDD28C4922}"/>
              </a:ext>
            </a:extLst>
          </p:cNvPr>
          <p:cNvSpPr txBox="1"/>
          <p:nvPr/>
        </p:nvSpPr>
        <p:spPr>
          <a:xfrm>
            <a:off x="9703109" y="2944520"/>
            <a:ext cx="10858500" cy="466346"/>
          </a:xfrm>
          <a:prstGeom prst="rect">
            <a:avLst/>
          </a:prstGeom>
          <a:noFill/>
        </p:spPr>
        <p:txBody>
          <a:bodyPr wrap="square">
            <a:spAutoFit/>
          </a:bodyPr>
          <a:lstStyle/>
          <a:p>
            <a:pPr algn="ctr">
              <a:lnSpc>
                <a:spcPts val="3150"/>
              </a:lnSpc>
            </a:pPr>
            <a:r>
              <a:rPr lang="en-US" sz="2000" b="1" dirty="0">
                <a:solidFill>
                  <a:srgbClr val="010101"/>
                </a:solidFill>
                <a:latin typeface="Canva Sans Bold"/>
                <a:ea typeface="Canva Sans Bold"/>
                <a:cs typeface="Canva Sans Bold"/>
                <a:sym typeface="Canva Sans Bold"/>
              </a:rPr>
              <a:t>Security and User Management</a:t>
            </a:r>
          </a:p>
        </p:txBody>
      </p:sp>
      <p:sp>
        <p:nvSpPr>
          <p:cNvPr id="24" name="TextBox 23">
            <a:extLst>
              <a:ext uri="{FF2B5EF4-FFF2-40B4-BE49-F238E27FC236}">
                <a16:creationId xmlns:a16="http://schemas.microsoft.com/office/drawing/2014/main" id="{C9FCFD6F-860D-4A6C-9626-86E9BC3F34F3}"/>
              </a:ext>
            </a:extLst>
          </p:cNvPr>
          <p:cNvSpPr txBox="1"/>
          <p:nvPr/>
        </p:nvSpPr>
        <p:spPr>
          <a:xfrm>
            <a:off x="12788380" y="3826610"/>
            <a:ext cx="11997812" cy="1104148"/>
          </a:xfrm>
          <a:prstGeom prst="rect">
            <a:avLst/>
          </a:prstGeom>
          <a:noFill/>
        </p:spPr>
        <p:txBody>
          <a:bodyPr wrap="square">
            <a:spAutoFit/>
          </a:bodyPr>
          <a:lstStyle/>
          <a:p>
            <a:pPr algn="l">
              <a:lnSpc>
                <a:spcPts val="2730"/>
              </a:lnSpc>
            </a:pPr>
            <a:r>
              <a:rPr lang="en-US" sz="1800" b="1" dirty="0">
                <a:solidFill>
                  <a:srgbClr val="010101"/>
                </a:solidFill>
                <a:latin typeface="Canva Sans Bold"/>
                <a:ea typeface="Canva Sans Bold"/>
                <a:cs typeface="Canva Sans Bold"/>
                <a:sym typeface="Canva Sans Bold"/>
              </a:rPr>
              <a:t>38.1. Role-Based Access Control</a:t>
            </a:r>
          </a:p>
          <a:p>
            <a:pPr algn="l">
              <a:lnSpc>
                <a:spcPts val="2730"/>
              </a:lnSpc>
            </a:pPr>
            <a:endParaRPr lang="en-US" sz="1800" b="1" dirty="0">
              <a:solidFill>
                <a:srgbClr val="010101"/>
              </a:solidFill>
              <a:latin typeface="Canva Sans Bold"/>
              <a:ea typeface="Canva Sans Bold"/>
              <a:cs typeface="Canva Sans Bold"/>
              <a:sym typeface="Canva Sans Bold"/>
            </a:endParaRPr>
          </a:p>
          <a:p>
            <a:pPr algn="l">
              <a:lnSpc>
                <a:spcPts val="2730"/>
              </a:lnSpc>
            </a:pPr>
            <a:endParaRPr lang="en-US" sz="1800" b="1" dirty="0">
              <a:solidFill>
                <a:srgbClr val="010101"/>
              </a:solidFill>
              <a:latin typeface="Canva Sans Bold"/>
              <a:ea typeface="Canva Sans Bold"/>
              <a:cs typeface="Canva Sans Bold"/>
              <a:sym typeface="Canva Sans Bold"/>
            </a:endParaRPr>
          </a:p>
        </p:txBody>
      </p:sp>
      <p:sp>
        <p:nvSpPr>
          <p:cNvPr id="25" name="TextBox 24">
            <a:extLst>
              <a:ext uri="{FF2B5EF4-FFF2-40B4-BE49-F238E27FC236}">
                <a16:creationId xmlns:a16="http://schemas.microsoft.com/office/drawing/2014/main" id="{48268BD9-BACC-49AB-B160-8F30F4BE788A}"/>
              </a:ext>
            </a:extLst>
          </p:cNvPr>
          <p:cNvSpPr txBox="1"/>
          <p:nvPr/>
        </p:nvSpPr>
        <p:spPr>
          <a:xfrm>
            <a:off x="12919525" y="4833588"/>
            <a:ext cx="4737620" cy="3651705"/>
          </a:xfrm>
          <a:prstGeom prst="rect">
            <a:avLst/>
          </a:prstGeom>
          <a:noFill/>
        </p:spPr>
        <p:txBody>
          <a:bodyPr wrap="square">
            <a:spAutoFit/>
          </a:bodyPr>
          <a:lstStyle/>
          <a:p>
            <a:pPr algn="l">
              <a:lnSpc>
                <a:spcPts val="3075"/>
              </a:lnSpc>
            </a:pPr>
            <a:r>
              <a:rPr lang="en-GB" sz="2400" dirty="0"/>
              <a:t>RBAC ensures that users have permissions tailored to their roles, enabling fine-grained control over job management. For example, administrators can have full control, while standard users may only view or execute jobs. This enhances security and reduces the risk of unauthorized actions.</a:t>
            </a:r>
            <a:endParaRPr lang="en-US" sz="2400" dirty="0">
              <a:solidFill>
                <a:srgbClr val="010101"/>
              </a:solidFill>
              <a:latin typeface="Canva Sans"/>
              <a:ea typeface="Canva Sans"/>
              <a:cs typeface="Canva Sans"/>
              <a:sym typeface="Canva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877281" y="0"/>
            <a:ext cx="3088591" cy="10287000"/>
            <a:chOff x="0" y="0"/>
            <a:chExt cx="813456" cy="2709333"/>
          </a:xfrm>
        </p:grpSpPr>
        <p:sp>
          <p:nvSpPr>
            <p:cNvPr id="3" name="Freeform 3"/>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p:cNvSpPr/>
          <p:nvPr/>
        </p:nvSpPr>
        <p:spPr>
          <a:xfrm>
            <a:off x="-3725255" y="689027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5638800" y="1257300"/>
            <a:ext cx="7592570" cy="1410643"/>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Existing Problems In Job Dependency</a:t>
            </a:r>
          </a:p>
        </p:txBody>
      </p:sp>
      <p:sp>
        <p:nvSpPr>
          <p:cNvPr id="8" name="TextBox 8"/>
          <p:cNvSpPr txBox="1"/>
          <p:nvPr/>
        </p:nvSpPr>
        <p:spPr>
          <a:xfrm>
            <a:off x="2895600" y="3396726"/>
            <a:ext cx="14137683" cy="5339539"/>
          </a:xfrm>
          <a:prstGeom prst="rect">
            <a:avLst/>
          </a:prstGeom>
        </p:spPr>
        <p:txBody>
          <a:bodyPr wrap="square" lIns="0" tIns="0" rIns="0" bIns="0" rtlCol="0" anchor="t">
            <a:spAutoFit/>
          </a:bodyPr>
          <a:lstStyle/>
          <a:p>
            <a:pPr>
              <a:lnSpc>
                <a:spcPts val="4196"/>
              </a:lnSpc>
            </a:pPr>
            <a:r>
              <a:rPr lang="en-GB" sz="3200" b="1" dirty="0"/>
              <a:t>Current Scenario </a:t>
            </a:r>
            <a:r>
              <a:rPr lang="en-GB" sz="3200" dirty="0"/>
              <a:t>: Jobs in </a:t>
            </a:r>
            <a:r>
              <a:rPr lang="en-GB" sz="3200" dirty="0" err="1"/>
              <a:t>pgAgent</a:t>
            </a:r>
            <a:r>
              <a:rPr lang="en-GB" sz="3200" dirty="0"/>
              <a:t> are managed independently without dependencies.</a:t>
            </a:r>
          </a:p>
          <a:p>
            <a:pPr>
              <a:lnSpc>
                <a:spcPts val="4196"/>
              </a:lnSpc>
            </a:pPr>
            <a:r>
              <a:rPr lang="en-GB" sz="3200" dirty="0"/>
              <a:t>Associated problems:</a:t>
            </a:r>
          </a:p>
          <a:p>
            <a:pPr marL="457200" indent="-457200" algn="l">
              <a:lnSpc>
                <a:spcPts val="4196"/>
              </a:lnSpc>
              <a:buFont typeface="Arial" panose="020B0604020202020204" pitchFamily="34" charset="0"/>
              <a:buChar char="•"/>
            </a:pPr>
            <a:r>
              <a:rPr lang="en-GB" sz="3200" b="1" dirty="0"/>
              <a:t>Lack of Visibility and Monitoring : </a:t>
            </a:r>
            <a:r>
              <a:rPr lang="en-GB" sz="3200" dirty="0"/>
              <a:t>makes it difficult to troubleshoot or optimize workflows.</a:t>
            </a:r>
          </a:p>
          <a:p>
            <a:pPr marL="457200" indent="-457200" algn="l">
              <a:lnSpc>
                <a:spcPts val="4196"/>
              </a:lnSpc>
              <a:buFont typeface="Arial" panose="020B0604020202020204" pitchFamily="34" charset="0"/>
              <a:buChar char="•"/>
            </a:pPr>
            <a:r>
              <a:rPr lang="en-IN" sz="3200" b="1" dirty="0"/>
              <a:t>Dependency Failure Handling : </a:t>
            </a:r>
            <a:r>
              <a:rPr lang="en-GB" sz="3200" dirty="0"/>
              <a:t>When a job in a dependency chain fails, it can halt the entire workflow without providing options for retry or skipping failed jobs.</a:t>
            </a:r>
          </a:p>
          <a:p>
            <a:pPr marL="457200" indent="-457200" algn="l">
              <a:lnSpc>
                <a:spcPts val="4196"/>
              </a:lnSpc>
              <a:buFont typeface="Arial" panose="020B0604020202020204" pitchFamily="34" charset="0"/>
              <a:buChar char="•"/>
            </a:pPr>
            <a:r>
              <a:rPr lang="en-IN" sz="3200" b="1" dirty="0"/>
              <a:t>Scalability Issues</a:t>
            </a:r>
            <a:r>
              <a:rPr lang="en-GB" sz="3200" b="1" dirty="0"/>
              <a:t> : </a:t>
            </a:r>
            <a:r>
              <a:rPr lang="en-GB" sz="3200" dirty="0"/>
              <a:t>As the number of jobs and dependencies grows, the system may struggle to handle the complexity, leading to performance degradation.</a:t>
            </a:r>
            <a:endParaRPr lang="en-GB" sz="3200" b="1" dirty="0"/>
          </a:p>
          <a:p>
            <a:pPr marL="457200" indent="-457200" algn="l">
              <a:lnSpc>
                <a:spcPts val="4196"/>
              </a:lnSpc>
              <a:buFont typeface="Arial" panose="020B0604020202020204" pitchFamily="34" charset="0"/>
              <a:buChar char="•"/>
            </a:pPr>
            <a:endParaRPr lang="en-US" sz="2997" b="1" dirty="0">
              <a:solidFill>
                <a:srgbClr val="000000"/>
              </a:solidFill>
              <a:latin typeface="Kollektif"/>
              <a:ea typeface="Kollektif"/>
              <a:cs typeface="Kollektif"/>
              <a:sym typeface="Kollektif"/>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877281" y="0"/>
            <a:ext cx="3088591" cy="10287000"/>
            <a:chOff x="0" y="0"/>
            <a:chExt cx="813456" cy="2709333"/>
          </a:xfrm>
        </p:grpSpPr>
        <p:sp>
          <p:nvSpPr>
            <p:cNvPr id="3" name="Freeform 3"/>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p:cNvSpPr/>
          <p:nvPr/>
        </p:nvSpPr>
        <p:spPr>
          <a:xfrm>
            <a:off x="-3725255" y="689027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5638800" y="1257300"/>
            <a:ext cx="7592570" cy="1410643"/>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Existing Solutions/Approaches</a:t>
            </a:r>
          </a:p>
        </p:txBody>
      </p:sp>
      <p:sp>
        <p:nvSpPr>
          <p:cNvPr id="8" name="TextBox 8"/>
          <p:cNvSpPr txBox="1"/>
          <p:nvPr/>
        </p:nvSpPr>
        <p:spPr>
          <a:xfrm>
            <a:off x="2514600" y="3396726"/>
            <a:ext cx="15458085" cy="4523931"/>
          </a:xfrm>
          <a:prstGeom prst="rect">
            <a:avLst/>
          </a:prstGeom>
        </p:spPr>
        <p:txBody>
          <a:bodyPr wrap="square" lIns="0" tIns="0" rIns="0" bIns="0" rtlCol="0" anchor="t">
            <a:spAutoFit/>
          </a:bodyPr>
          <a:lstStyle/>
          <a:p>
            <a:pPr algn="l">
              <a:lnSpc>
                <a:spcPts val="4196"/>
              </a:lnSpc>
            </a:pPr>
            <a:r>
              <a:rPr lang="en-IN" sz="3600" b="1" dirty="0"/>
              <a:t>Job Dependencies:</a:t>
            </a:r>
          </a:p>
          <a:p>
            <a:pPr algn="l">
              <a:lnSpc>
                <a:spcPts val="4196"/>
              </a:lnSpc>
            </a:pPr>
            <a:endParaRPr lang="en-IN" sz="3200" dirty="0"/>
          </a:p>
          <a:p>
            <a:pPr marL="457200" indent="-457200">
              <a:buFont typeface="Arial" panose="020B0604020202020204" pitchFamily="34" charset="0"/>
              <a:buChar char="•"/>
            </a:pPr>
            <a:r>
              <a:rPr lang="en-GB" sz="3200" b="1" dirty="0"/>
              <a:t>Apache Airflow : </a:t>
            </a:r>
            <a:r>
              <a:rPr lang="en-GB" sz="3200" dirty="0"/>
              <a:t>Apache Airflow is a workflow automation platform that supports defining complex job dependencies using Directed Acyclic Graphs (DAGs).</a:t>
            </a:r>
          </a:p>
          <a:p>
            <a:pPr marL="457200" indent="-457200">
              <a:buFont typeface="Arial" panose="020B0604020202020204" pitchFamily="34" charset="0"/>
              <a:buChar char="•"/>
            </a:pPr>
            <a:r>
              <a:rPr lang="en-GB" sz="3200" b="1" dirty="0"/>
              <a:t>SQL Server Agent </a:t>
            </a:r>
            <a:r>
              <a:rPr lang="en-GB" sz="3200" dirty="0"/>
              <a:t>: Microsoft SQL Server Agent provides job scheduling and supports job dependency management through step conditions. You can configure jobs to start based on the success, failure, or completion of other jobs.</a:t>
            </a:r>
          </a:p>
          <a:p>
            <a:pPr marL="457200" indent="-457200">
              <a:buFont typeface="Arial" panose="020B0604020202020204" pitchFamily="34" charset="0"/>
              <a:buChar char="•"/>
            </a:pPr>
            <a:endParaRPr lang="en-GB" sz="3200" dirty="0"/>
          </a:p>
          <a:p>
            <a:pPr marL="457200" indent="-457200" algn="l">
              <a:lnSpc>
                <a:spcPts val="4196"/>
              </a:lnSpc>
              <a:buFont typeface="Wingdings" panose="05000000000000000000" pitchFamily="2" charset="2"/>
              <a:buChar char="§"/>
            </a:pPr>
            <a:endParaRPr lang="en-US" sz="2997" b="1" dirty="0">
              <a:solidFill>
                <a:srgbClr val="000000"/>
              </a:solidFill>
              <a:latin typeface="Kollektif"/>
              <a:ea typeface="Kollektif"/>
              <a:cs typeface="Kollektif"/>
              <a:sym typeface="Kollektif"/>
            </a:endParaRPr>
          </a:p>
        </p:txBody>
      </p:sp>
      <p:sp>
        <p:nvSpPr>
          <p:cNvPr id="13" name="Rectangle 6">
            <a:extLst>
              <a:ext uri="{FF2B5EF4-FFF2-40B4-BE49-F238E27FC236}">
                <a16:creationId xmlns:a16="http://schemas.microsoft.com/office/drawing/2014/main" id="{06A715A9-7B74-4335-ADE5-73DD6E8D46B9}"/>
              </a:ext>
            </a:extLst>
          </p:cNvPr>
          <p:cNvSpPr>
            <a:spLocks noChangeArrowheads="1"/>
          </p:cNvSpPr>
          <p:nvPr/>
        </p:nvSpPr>
        <p:spPr bwMode="auto">
          <a:xfrm>
            <a:off x="3886200" y="815923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2697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687E5-DA61-A6B1-2D72-9EBFD38A9E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885C73A-D79B-20C7-B079-0CC97F45BCBD}"/>
              </a:ext>
            </a:extLst>
          </p:cNvPr>
          <p:cNvGrpSpPr/>
          <p:nvPr/>
        </p:nvGrpSpPr>
        <p:grpSpPr>
          <a:xfrm>
            <a:off x="15199409" y="0"/>
            <a:ext cx="3088591" cy="10287000"/>
            <a:chOff x="0" y="0"/>
            <a:chExt cx="813456" cy="2709333"/>
          </a:xfrm>
        </p:grpSpPr>
        <p:sp>
          <p:nvSpPr>
            <p:cNvPr id="3" name="Freeform 3">
              <a:extLst>
                <a:ext uri="{FF2B5EF4-FFF2-40B4-BE49-F238E27FC236}">
                  <a16:creationId xmlns:a16="http://schemas.microsoft.com/office/drawing/2014/main" id="{B81F7BD4-E502-6636-6F45-9D87F306CB67}"/>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979ACF43-9648-D946-0C6D-3D194D9FA597}"/>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35C5BA76-2552-1081-1A00-01F5131378D8}"/>
              </a:ext>
            </a:extLst>
          </p:cNvPr>
          <p:cNvSpPr/>
          <p:nvPr/>
        </p:nvSpPr>
        <p:spPr>
          <a:xfrm rot="16200000">
            <a:off x="14859000" y="791301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3E7244D3-0408-DB48-B7DB-980D3E680328}"/>
              </a:ext>
            </a:extLst>
          </p:cNvPr>
          <p:cNvSpPr txBox="1"/>
          <p:nvPr/>
        </p:nvSpPr>
        <p:spPr>
          <a:xfrm>
            <a:off x="5638800" y="1257300"/>
            <a:ext cx="7592570" cy="1410643"/>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Functional Requirements</a:t>
            </a:r>
          </a:p>
        </p:txBody>
      </p:sp>
      <p:sp>
        <p:nvSpPr>
          <p:cNvPr id="8" name="TextBox 8">
            <a:extLst>
              <a:ext uri="{FF2B5EF4-FFF2-40B4-BE49-F238E27FC236}">
                <a16:creationId xmlns:a16="http://schemas.microsoft.com/office/drawing/2014/main" id="{AC1F63A1-8B6E-6218-AD3E-05F02886E189}"/>
              </a:ext>
            </a:extLst>
          </p:cNvPr>
          <p:cNvSpPr txBox="1"/>
          <p:nvPr/>
        </p:nvSpPr>
        <p:spPr>
          <a:xfrm>
            <a:off x="762000" y="4211586"/>
            <a:ext cx="14437409" cy="1615827"/>
          </a:xfrm>
          <a:prstGeom prst="rect">
            <a:avLst/>
          </a:prstGeom>
        </p:spPr>
        <p:txBody>
          <a:bodyPr wrap="square" lIns="0" tIns="0" rIns="0" bIns="0" rtlCol="0" anchor="t">
            <a:spAutoFit/>
          </a:bodyPr>
          <a:lstStyle/>
          <a:p>
            <a:pPr algn="l">
              <a:lnSpc>
                <a:spcPts val="4196"/>
              </a:lnSpc>
            </a:pPr>
            <a:r>
              <a:rPr lang="en-US" sz="3600" b="1" dirty="0"/>
              <a:t>•	FR-1: Support sequential and conditional job execution.</a:t>
            </a:r>
          </a:p>
          <a:p>
            <a:pPr algn="l">
              <a:lnSpc>
                <a:spcPts val="4196"/>
              </a:lnSpc>
            </a:pPr>
            <a:r>
              <a:rPr lang="en-US" sz="3600" b="1" dirty="0"/>
              <a:t>•	FR-2: Allow parallel execution of dependent jobs.</a:t>
            </a:r>
          </a:p>
          <a:p>
            <a:pPr algn="l">
              <a:lnSpc>
                <a:spcPts val="4196"/>
              </a:lnSpc>
            </a:pPr>
            <a:r>
              <a:rPr lang="en-US" sz="3600" b="1" dirty="0"/>
              <a:t>•	FR-3: Provide visual representation of job dependencies in </a:t>
            </a:r>
            <a:r>
              <a:rPr lang="en-US" sz="3600" b="1" dirty="0" err="1"/>
              <a:t>pgAdmin</a:t>
            </a:r>
            <a:endParaRPr lang="en-GB" sz="3200" dirty="0"/>
          </a:p>
        </p:txBody>
      </p:sp>
    </p:spTree>
    <p:extLst>
      <p:ext uri="{BB962C8B-B14F-4D97-AF65-F5344CB8AC3E}">
        <p14:creationId xmlns:p14="http://schemas.microsoft.com/office/powerpoint/2010/main" val="13144632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6A08F-AA48-5836-9407-971803A3D28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4530AE1-717B-D340-5044-0BFA3A36C0CB}"/>
              </a:ext>
            </a:extLst>
          </p:cNvPr>
          <p:cNvGrpSpPr/>
          <p:nvPr/>
        </p:nvGrpSpPr>
        <p:grpSpPr>
          <a:xfrm>
            <a:off x="-877281" y="0"/>
            <a:ext cx="3088591" cy="10287000"/>
            <a:chOff x="0" y="0"/>
            <a:chExt cx="813456" cy="2709333"/>
          </a:xfrm>
        </p:grpSpPr>
        <p:sp>
          <p:nvSpPr>
            <p:cNvPr id="3" name="Freeform 3">
              <a:extLst>
                <a:ext uri="{FF2B5EF4-FFF2-40B4-BE49-F238E27FC236}">
                  <a16:creationId xmlns:a16="http://schemas.microsoft.com/office/drawing/2014/main" id="{2213A0EE-3510-9929-D36D-E491E9EF85E8}"/>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7D672085-E716-1FF3-4E67-CBE2E023695C}"/>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E9AFCB71-FBFB-ADAE-59F6-DEC772A24452}"/>
              </a:ext>
            </a:extLst>
          </p:cNvPr>
          <p:cNvSpPr/>
          <p:nvPr/>
        </p:nvSpPr>
        <p:spPr>
          <a:xfrm>
            <a:off x="-3725255" y="689027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A179E27B-EF3E-9F8A-B6B8-92C981200AE2}"/>
              </a:ext>
            </a:extLst>
          </p:cNvPr>
          <p:cNvSpPr txBox="1"/>
          <p:nvPr/>
        </p:nvSpPr>
        <p:spPr>
          <a:xfrm>
            <a:off x="5562600" y="582489"/>
            <a:ext cx="7592570" cy="705321"/>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Visualization</a:t>
            </a:r>
          </a:p>
        </p:txBody>
      </p:sp>
      <p:sp>
        <p:nvSpPr>
          <p:cNvPr id="13" name="Rectangle 6">
            <a:extLst>
              <a:ext uri="{FF2B5EF4-FFF2-40B4-BE49-F238E27FC236}">
                <a16:creationId xmlns:a16="http://schemas.microsoft.com/office/drawing/2014/main" id="{C558D6C0-9B25-F7B0-2618-BFFEA572FDDF}"/>
              </a:ext>
            </a:extLst>
          </p:cNvPr>
          <p:cNvSpPr>
            <a:spLocks noChangeArrowheads="1"/>
          </p:cNvSpPr>
          <p:nvPr/>
        </p:nvSpPr>
        <p:spPr bwMode="auto">
          <a:xfrm>
            <a:off x="3886200" y="815923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57C0083F-CC73-72B2-F253-4089FF1BDA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396307"/>
            <a:ext cx="17145000" cy="8311892"/>
          </a:xfrm>
          <a:prstGeom prst="rect">
            <a:avLst/>
          </a:prstGeom>
          <a:noFill/>
          <a:ln>
            <a:noFill/>
          </a:ln>
        </p:spPr>
      </p:pic>
    </p:spTree>
    <p:extLst>
      <p:ext uri="{BB962C8B-B14F-4D97-AF65-F5344CB8AC3E}">
        <p14:creationId xmlns:p14="http://schemas.microsoft.com/office/powerpoint/2010/main" val="673898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199409" y="0"/>
            <a:ext cx="3088591" cy="10287000"/>
            <a:chOff x="0" y="0"/>
            <a:chExt cx="813456" cy="2709333"/>
          </a:xfrm>
        </p:grpSpPr>
        <p:sp>
          <p:nvSpPr>
            <p:cNvPr id="3" name="Freeform 3"/>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p:cNvSpPr/>
          <p:nvPr/>
        </p:nvSpPr>
        <p:spPr>
          <a:xfrm rot="16200000">
            <a:off x="14859000" y="791301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5638800" y="1257300"/>
            <a:ext cx="7592570" cy="2115964"/>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Existing Problems In Role Based Access Control</a:t>
            </a:r>
          </a:p>
        </p:txBody>
      </p:sp>
      <p:sp>
        <p:nvSpPr>
          <p:cNvPr id="8" name="TextBox 8"/>
          <p:cNvSpPr txBox="1"/>
          <p:nvPr/>
        </p:nvSpPr>
        <p:spPr>
          <a:xfrm>
            <a:off x="762000" y="4211586"/>
            <a:ext cx="14437409" cy="5356723"/>
          </a:xfrm>
          <a:prstGeom prst="rect">
            <a:avLst/>
          </a:prstGeom>
        </p:spPr>
        <p:txBody>
          <a:bodyPr wrap="square" lIns="0" tIns="0" rIns="0" bIns="0" rtlCol="0" anchor="t">
            <a:spAutoFit/>
          </a:bodyPr>
          <a:lstStyle/>
          <a:p>
            <a:pPr marL="457200" indent="-457200" algn="l">
              <a:lnSpc>
                <a:spcPts val="4196"/>
              </a:lnSpc>
              <a:buFont typeface="Arial" panose="020B0604020202020204" pitchFamily="34" charset="0"/>
              <a:buChar char="•"/>
            </a:pPr>
            <a:r>
              <a:rPr lang="en-IN" sz="3200" b="1" dirty="0"/>
              <a:t>Lack of Granularity : </a:t>
            </a:r>
            <a:r>
              <a:rPr lang="en-GB" sz="3200" dirty="0"/>
              <a:t>do not allow fine-grained control over permissions at the job or job group level.</a:t>
            </a:r>
          </a:p>
          <a:p>
            <a:pPr algn="l">
              <a:lnSpc>
                <a:spcPts val="4196"/>
              </a:lnSpc>
            </a:pPr>
            <a:r>
              <a:rPr lang="en-GB" sz="3200" b="1" dirty="0">
                <a:solidFill>
                  <a:srgbClr val="000000"/>
                </a:solidFill>
                <a:latin typeface="Kollektif"/>
                <a:ea typeface="Kollektif"/>
                <a:cs typeface="Kollektif"/>
                <a:sym typeface="Kollektif"/>
              </a:rPr>
              <a:t>  </a:t>
            </a:r>
            <a:r>
              <a:rPr lang="en-GB" sz="3200" dirty="0" err="1">
                <a:solidFill>
                  <a:srgbClr val="000000"/>
                </a:solidFill>
                <a:latin typeface="Kollektif"/>
                <a:ea typeface="Kollektif"/>
                <a:cs typeface="Kollektif"/>
                <a:sym typeface="Kollektif"/>
              </a:rPr>
              <a:t>eg</a:t>
            </a:r>
            <a:r>
              <a:rPr lang="en-GB" sz="3200" dirty="0">
                <a:solidFill>
                  <a:srgbClr val="000000"/>
                </a:solidFill>
                <a:latin typeface="Kollektif"/>
                <a:ea typeface="Kollektif"/>
                <a:cs typeface="Kollektif"/>
                <a:sym typeface="Kollektif"/>
              </a:rPr>
              <a:t>: </a:t>
            </a:r>
            <a:r>
              <a:rPr lang="en-GB" sz="3200" dirty="0"/>
              <a:t>An administrator cannot restrict access to specific jobs or job parameters for a subset of users.</a:t>
            </a:r>
            <a:endParaRPr lang="en-GB" sz="3200" b="1" dirty="0">
              <a:solidFill>
                <a:srgbClr val="000000"/>
              </a:solidFill>
              <a:latin typeface="Kollektif"/>
              <a:ea typeface="Kollektif"/>
              <a:cs typeface="Kollektif"/>
              <a:sym typeface="Kollektif"/>
            </a:endParaRPr>
          </a:p>
          <a:p>
            <a:pPr marL="457200" indent="-457200" algn="l">
              <a:lnSpc>
                <a:spcPts val="4196"/>
              </a:lnSpc>
              <a:buFont typeface="Arial" panose="020B0604020202020204" pitchFamily="34" charset="0"/>
              <a:buChar char="•"/>
            </a:pPr>
            <a:r>
              <a:rPr lang="en-IN" sz="3200" b="1" dirty="0"/>
              <a:t>Overly Broad Permissions : </a:t>
            </a:r>
            <a:r>
              <a:rPr lang="en-GB" sz="3200" dirty="0"/>
              <a:t>Systems often grant excessive privileges to roles, increasing the risk of unauthorized access or accidental data modification.</a:t>
            </a:r>
          </a:p>
          <a:p>
            <a:pPr>
              <a:lnSpc>
                <a:spcPts val="4196"/>
              </a:lnSpc>
            </a:pPr>
            <a:r>
              <a:rPr lang="en-GB" sz="3200" dirty="0">
                <a:solidFill>
                  <a:srgbClr val="000000"/>
                </a:solidFill>
                <a:latin typeface="Kollektif"/>
                <a:ea typeface="Kollektif"/>
                <a:cs typeface="Kollektif"/>
                <a:sym typeface="Kollektif"/>
              </a:rPr>
              <a:t>   </a:t>
            </a:r>
            <a:r>
              <a:rPr lang="en-GB" sz="3200" dirty="0" err="1">
                <a:solidFill>
                  <a:srgbClr val="000000"/>
                </a:solidFill>
                <a:latin typeface="Kollektif"/>
                <a:ea typeface="Kollektif"/>
                <a:cs typeface="Kollektif"/>
                <a:sym typeface="Kollektif"/>
              </a:rPr>
              <a:t>eg</a:t>
            </a:r>
            <a:r>
              <a:rPr lang="en-GB" sz="3200" dirty="0">
                <a:solidFill>
                  <a:srgbClr val="000000"/>
                </a:solidFill>
                <a:latin typeface="Kollektif"/>
                <a:ea typeface="Kollektif"/>
                <a:cs typeface="Kollektif"/>
                <a:sym typeface="Kollektif"/>
              </a:rPr>
              <a:t>: </a:t>
            </a:r>
            <a:r>
              <a:rPr kumimoji="0" lang="en-US" altLang="en-US" sz="3200" b="0" i="0" u="none" strike="noStrike" cap="none" normalizeH="0" baseline="0" dirty="0">
                <a:ln>
                  <a:noFill/>
                </a:ln>
                <a:solidFill>
                  <a:schemeClr val="tx1"/>
                </a:solidFill>
                <a:effectLst/>
                <a:cs typeface="Arial" panose="020B0604020202020204" pitchFamily="34" charset="0"/>
              </a:rPr>
              <a:t>A role designed for job execution may also allow job editing, which is unnecessary.</a:t>
            </a:r>
            <a:endParaRPr lang="en-GB" sz="3200" dirty="0">
              <a:solidFill>
                <a:srgbClr val="000000"/>
              </a:solidFill>
              <a:latin typeface="Kollektif"/>
              <a:ea typeface="Kollektif"/>
              <a:cs typeface="Kollektif"/>
              <a:sym typeface="Kollektif"/>
            </a:endParaRPr>
          </a:p>
          <a:p>
            <a:pPr marL="457200" indent="-457200" algn="l">
              <a:lnSpc>
                <a:spcPts val="4196"/>
              </a:lnSpc>
              <a:buFont typeface="Arial" panose="020B0604020202020204" pitchFamily="34" charset="0"/>
              <a:buChar char="•"/>
            </a:pPr>
            <a:r>
              <a:rPr lang="en-IN" sz="3200" b="1" dirty="0"/>
              <a:t>Static Role Assignment : </a:t>
            </a:r>
            <a:r>
              <a:rPr lang="en-GB" sz="3200" dirty="0"/>
              <a:t>Roles are often assigned manually or statically, making it challenging to adapt to dynamic environments.</a:t>
            </a:r>
            <a:endParaRPr lang="en-US" sz="2997" b="1" dirty="0">
              <a:solidFill>
                <a:srgbClr val="000000"/>
              </a:solidFill>
              <a:latin typeface="Kollektif"/>
              <a:ea typeface="Kollektif"/>
              <a:cs typeface="Kollektif"/>
              <a:sym typeface="Kollektif"/>
            </a:endParaRPr>
          </a:p>
        </p:txBody>
      </p:sp>
    </p:spTree>
    <p:extLst>
      <p:ext uri="{BB962C8B-B14F-4D97-AF65-F5344CB8AC3E}">
        <p14:creationId xmlns:p14="http://schemas.microsoft.com/office/powerpoint/2010/main" val="75151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69036-C39F-8787-B555-187147673D5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E5E8428-2ECF-F3FC-F124-B847A358B834}"/>
              </a:ext>
            </a:extLst>
          </p:cNvPr>
          <p:cNvGrpSpPr/>
          <p:nvPr/>
        </p:nvGrpSpPr>
        <p:grpSpPr>
          <a:xfrm>
            <a:off x="15199409" y="0"/>
            <a:ext cx="3088591" cy="10287000"/>
            <a:chOff x="0" y="0"/>
            <a:chExt cx="813456" cy="2709333"/>
          </a:xfrm>
        </p:grpSpPr>
        <p:sp>
          <p:nvSpPr>
            <p:cNvPr id="3" name="Freeform 3">
              <a:extLst>
                <a:ext uri="{FF2B5EF4-FFF2-40B4-BE49-F238E27FC236}">
                  <a16:creationId xmlns:a16="http://schemas.microsoft.com/office/drawing/2014/main" id="{089067A6-B404-4592-9771-F8D3031A382F}"/>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4346DD67-A0EB-A6A2-0E35-B3A2312853DD}"/>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A10B48D7-3561-EE6F-30B9-DBFC307AC460}"/>
              </a:ext>
            </a:extLst>
          </p:cNvPr>
          <p:cNvSpPr/>
          <p:nvPr/>
        </p:nvSpPr>
        <p:spPr>
          <a:xfrm rot="16200000">
            <a:off x="14859000" y="791301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88418C36-9336-1157-EF01-C90591B3682B}"/>
              </a:ext>
            </a:extLst>
          </p:cNvPr>
          <p:cNvSpPr txBox="1"/>
          <p:nvPr/>
        </p:nvSpPr>
        <p:spPr>
          <a:xfrm>
            <a:off x="5638800" y="1257300"/>
            <a:ext cx="7592570" cy="1410643"/>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Existing Solutions/Approaches</a:t>
            </a:r>
          </a:p>
        </p:txBody>
      </p:sp>
      <p:sp>
        <p:nvSpPr>
          <p:cNvPr id="8" name="TextBox 8">
            <a:extLst>
              <a:ext uri="{FF2B5EF4-FFF2-40B4-BE49-F238E27FC236}">
                <a16:creationId xmlns:a16="http://schemas.microsoft.com/office/drawing/2014/main" id="{CAAC20EB-F41A-B572-5108-C40FC35EFB11}"/>
              </a:ext>
            </a:extLst>
          </p:cNvPr>
          <p:cNvSpPr txBox="1"/>
          <p:nvPr/>
        </p:nvSpPr>
        <p:spPr>
          <a:xfrm>
            <a:off x="762000" y="4211586"/>
            <a:ext cx="14437409" cy="4524315"/>
          </a:xfrm>
          <a:prstGeom prst="rect">
            <a:avLst/>
          </a:prstGeom>
        </p:spPr>
        <p:txBody>
          <a:bodyPr wrap="square" lIns="0" tIns="0" rIns="0" bIns="0" rtlCol="0" anchor="t">
            <a:spAutoFit/>
          </a:bodyPr>
          <a:lstStyle/>
          <a:p>
            <a:pPr algn="l">
              <a:lnSpc>
                <a:spcPts val="4196"/>
              </a:lnSpc>
            </a:pPr>
            <a:r>
              <a:rPr lang="en-IN" sz="3600" b="1" dirty="0"/>
              <a:t>Role Based Access Control:</a:t>
            </a:r>
          </a:p>
          <a:p>
            <a:pPr algn="l">
              <a:lnSpc>
                <a:spcPts val="4196"/>
              </a:lnSpc>
            </a:pPr>
            <a:endParaRPr lang="en-IN" sz="3200" dirty="0"/>
          </a:p>
          <a:p>
            <a:pPr marL="457200" indent="-457200">
              <a:buFont typeface="Arial" panose="020B0604020202020204" pitchFamily="34" charset="0"/>
              <a:buChar char="•"/>
            </a:pPr>
            <a:r>
              <a:rPr lang="en-GB" sz="3200" b="1" dirty="0"/>
              <a:t>MongoDB Access Control </a:t>
            </a:r>
            <a:r>
              <a:rPr lang="en-GB" sz="3200" dirty="0"/>
              <a:t>: MongoDB offers a robust RBAC system where users are assigned roles with specific privileges. Roles can be defined at the database or collection level, allowing fine-grained access control.</a:t>
            </a:r>
          </a:p>
          <a:p>
            <a:pPr marL="457200" indent="-457200">
              <a:buFont typeface="Arial" panose="020B0604020202020204" pitchFamily="34" charset="0"/>
              <a:buChar char="•"/>
            </a:pPr>
            <a:r>
              <a:rPr lang="en-GB" sz="3200" b="1" dirty="0"/>
              <a:t>MySQL Role Management </a:t>
            </a:r>
            <a:r>
              <a:rPr lang="en-GB" sz="3200" dirty="0"/>
              <a:t>: MySQL allows roles to group privileges and manage user access. Role-based access control is used for managing permissions on databases, tables, or specific queries.</a:t>
            </a:r>
          </a:p>
          <a:p>
            <a:endParaRPr lang="en-GB" sz="3200" dirty="0"/>
          </a:p>
        </p:txBody>
      </p:sp>
    </p:spTree>
    <p:extLst>
      <p:ext uri="{BB962C8B-B14F-4D97-AF65-F5344CB8AC3E}">
        <p14:creationId xmlns:p14="http://schemas.microsoft.com/office/powerpoint/2010/main" val="2439146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12A03-8DEB-C475-7D73-637803F651F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249252D-CAC0-202E-A602-33E1181C5DF7}"/>
              </a:ext>
            </a:extLst>
          </p:cNvPr>
          <p:cNvGrpSpPr/>
          <p:nvPr/>
        </p:nvGrpSpPr>
        <p:grpSpPr>
          <a:xfrm>
            <a:off x="-877281" y="0"/>
            <a:ext cx="3088591" cy="10287000"/>
            <a:chOff x="0" y="0"/>
            <a:chExt cx="813456" cy="2709333"/>
          </a:xfrm>
        </p:grpSpPr>
        <p:sp>
          <p:nvSpPr>
            <p:cNvPr id="3" name="Freeform 3">
              <a:extLst>
                <a:ext uri="{FF2B5EF4-FFF2-40B4-BE49-F238E27FC236}">
                  <a16:creationId xmlns:a16="http://schemas.microsoft.com/office/drawing/2014/main" id="{A87261F0-C4F2-A069-0E86-BF9E941B0D99}"/>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40863E2D-0C1C-8BE9-E082-F53C3B07868B}"/>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9C0EE39F-A3AC-CBC6-38FC-8742944CA161}"/>
              </a:ext>
            </a:extLst>
          </p:cNvPr>
          <p:cNvSpPr/>
          <p:nvPr/>
        </p:nvSpPr>
        <p:spPr>
          <a:xfrm>
            <a:off x="-3725255" y="689027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AA987B56-4FCC-32EC-D0AC-9926E3C3FBC7}"/>
              </a:ext>
            </a:extLst>
          </p:cNvPr>
          <p:cNvSpPr txBox="1"/>
          <p:nvPr/>
        </p:nvSpPr>
        <p:spPr>
          <a:xfrm>
            <a:off x="5638800" y="1257300"/>
            <a:ext cx="7592570" cy="1410643"/>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Functional Requirements</a:t>
            </a:r>
          </a:p>
        </p:txBody>
      </p:sp>
      <p:sp>
        <p:nvSpPr>
          <p:cNvPr id="8" name="TextBox 8">
            <a:extLst>
              <a:ext uri="{FF2B5EF4-FFF2-40B4-BE49-F238E27FC236}">
                <a16:creationId xmlns:a16="http://schemas.microsoft.com/office/drawing/2014/main" id="{7D760CD8-F439-0AA7-F73E-DB0ABF236B08}"/>
              </a:ext>
            </a:extLst>
          </p:cNvPr>
          <p:cNvSpPr txBox="1"/>
          <p:nvPr/>
        </p:nvSpPr>
        <p:spPr>
          <a:xfrm>
            <a:off x="2514600" y="3396726"/>
            <a:ext cx="15458085" cy="1615827"/>
          </a:xfrm>
          <a:prstGeom prst="rect">
            <a:avLst/>
          </a:prstGeom>
        </p:spPr>
        <p:txBody>
          <a:bodyPr wrap="square" lIns="0" tIns="0" rIns="0" bIns="0" rtlCol="0" anchor="t">
            <a:spAutoFit/>
          </a:bodyPr>
          <a:lstStyle/>
          <a:p>
            <a:pPr algn="l">
              <a:lnSpc>
                <a:spcPts val="4196"/>
              </a:lnSpc>
            </a:pPr>
            <a:r>
              <a:rPr lang="en-US" sz="3600" b="1" dirty="0"/>
              <a:t>•	FR-4: Define roles (Admin, Developer, Viewer) with specific permissions.</a:t>
            </a:r>
          </a:p>
          <a:p>
            <a:pPr algn="l">
              <a:lnSpc>
                <a:spcPts val="4196"/>
              </a:lnSpc>
            </a:pPr>
            <a:r>
              <a:rPr lang="en-US" sz="3600" b="1" dirty="0"/>
              <a:t>•	FR-5: Enforce authentication for role assignment and job execution.</a:t>
            </a:r>
          </a:p>
          <a:p>
            <a:pPr algn="l">
              <a:lnSpc>
                <a:spcPts val="4196"/>
              </a:lnSpc>
            </a:pPr>
            <a:r>
              <a:rPr lang="en-US" sz="3600" b="1" dirty="0"/>
              <a:t>•	FR-6: Restrict job editing and deletion based on roles.</a:t>
            </a:r>
          </a:p>
        </p:txBody>
      </p:sp>
      <p:sp>
        <p:nvSpPr>
          <p:cNvPr id="13" name="Rectangle 6">
            <a:extLst>
              <a:ext uri="{FF2B5EF4-FFF2-40B4-BE49-F238E27FC236}">
                <a16:creationId xmlns:a16="http://schemas.microsoft.com/office/drawing/2014/main" id="{EE49DB49-53BE-1507-08AA-79F57413DDC5}"/>
              </a:ext>
            </a:extLst>
          </p:cNvPr>
          <p:cNvSpPr>
            <a:spLocks noChangeArrowheads="1"/>
          </p:cNvSpPr>
          <p:nvPr/>
        </p:nvSpPr>
        <p:spPr bwMode="auto">
          <a:xfrm>
            <a:off x="3886200" y="815923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9914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C5571-6C34-CA0D-819B-DE29CDD0646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1038769-F6E5-69BC-4549-EBE74E62B099}"/>
              </a:ext>
            </a:extLst>
          </p:cNvPr>
          <p:cNvGrpSpPr/>
          <p:nvPr/>
        </p:nvGrpSpPr>
        <p:grpSpPr>
          <a:xfrm>
            <a:off x="15199409" y="0"/>
            <a:ext cx="3088591" cy="10287000"/>
            <a:chOff x="0" y="0"/>
            <a:chExt cx="813456" cy="2709333"/>
          </a:xfrm>
        </p:grpSpPr>
        <p:sp>
          <p:nvSpPr>
            <p:cNvPr id="3" name="Freeform 3">
              <a:extLst>
                <a:ext uri="{FF2B5EF4-FFF2-40B4-BE49-F238E27FC236}">
                  <a16:creationId xmlns:a16="http://schemas.microsoft.com/office/drawing/2014/main" id="{5ED539D0-8536-80E7-81DB-39B7FEC81FE1}"/>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DF977F6E-25F6-6979-EE9D-8E0C5D5572B1}"/>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31CD356E-71C0-EAFD-A699-F127F6BF414F}"/>
              </a:ext>
            </a:extLst>
          </p:cNvPr>
          <p:cNvSpPr/>
          <p:nvPr/>
        </p:nvSpPr>
        <p:spPr>
          <a:xfrm rot="16200000">
            <a:off x="14859000" y="791301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ABCDB93B-FD41-BF7F-0828-4D3405D9A9D0}"/>
              </a:ext>
            </a:extLst>
          </p:cNvPr>
          <p:cNvSpPr txBox="1"/>
          <p:nvPr/>
        </p:nvSpPr>
        <p:spPr>
          <a:xfrm>
            <a:off x="5638800" y="1257300"/>
            <a:ext cx="7592570" cy="705321"/>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Visualization</a:t>
            </a:r>
          </a:p>
        </p:txBody>
      </p:sp>
      <p:pic>
        <p:nvPicPr>
          <p:cNvPr id="7" name="Picture 6">
            <a:extLst>
              <a:ext uri="{FF2B5EF4-FFF2-40B4-BE49-F238E27FC236}">
                <a16:creationId xmlns:a16="http://schemas.microsoft.com/office/drawing/2014/main" id="{B99BEFB5-1AF9-0D85-2EC5-EEFD05B3730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29996" y="2628900"/>
            <a:ext cx="13258800" cy="6248400"/>
          </a:xfrm>
          <a:prstGeom prst="rect">
            <a:avLst/>
          </a:prstGeom>
          <a:noFill/>
          <a:ln>
            <a:noFill/>
          </a:ln>
        </p:spPr>
      </p:pic>
    </p:spTree>
    <p:extLst>
      <p:ext uri="{BB962C8B-B14F-4D97-AF65-F5344CB8AC3E}">
        <p14:creationId xmlns:p14="http://schemas.microsoft.com/office/powerpoint/2010/main" val="2483028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B01E4-B93C-A13E-B4C2-B30585E502A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D5C7B81-26AE-DDDD-9E24-F1760440CFE3}"/>
              </a:ext>
            </a:extLst>
          </p:cNvPr>
          <p:cNvGrpSpPr/>
          <p:nvPr/>
        </p:nvGrpSpPr>
        <p:grpSpPr>
          <a:xfrm>
            <a:off x="-877281" y="0"/>
            <a:ext cx="3088591" cy="10287000"/>
            <a:chOff x="0" y="0"/>
            <a:chExt cx="813456" cy="2709333"/>
          </a:xfrm>
        </p:grpSpPr>
        <p:sp>
          <p:nvSpPr>
            <p:cNvPr id="3" name="Freeform 3">
              <a:extLst>
                <a:ext uri="{FF2B5EF4-FFF2-40B4-BE49-F238E27FC236}">
                  <a16:creationId xmlns:a16="http://schemas.microsoft.com/office/drawing/2014/main" id="{87C86A5E-41F8-73BA-2DFD-D19021689FFD}"/>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79DA2779-1C1F-0BD2-4E0F-6C934DFA990C}"/>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EAC5610E-CAE6-2B6F-75E2-89C1BE595142}"/>
              </a:ext>
            </a:extLst>
          </p:cNvPr>
          <p:cNvSpPr/>
          <p:nvPr/>
        </p:nvSpPr>
        <p:spPr>
          <a:xfrm>
            <a:off x="-3725255" y="689027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290774C4-E5D3-5E84-00A2-13E94F68C8B5}"/>
              </a:ext>
            </a:extLst>
          </p:cNvPr>
          <p:cNvSpPr txBox="1"/>
          <p:nvPr/>
        </p:nvSpPr>
        <p:spPr>
          <a:xfrm>
            <a:off x="5638800" y="1257300"/>
            <a:ext cx="7592570" cy="705321"/>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Implementation Plan</a:t>
            </a:r>
          </a:p>
        </p:txBody>
      </p:sp>
      <p:sp>
        <p:nvSpPr>
          <p:cNvPr id="8" name="TextBox 8">
            <a:extLst>
              <a:ext uri="{FF2B5EF4-FFF2-40B4-BE49-F238E27FC236}">
                <a16:creationId xmlns:a16="http://schemas.microsoft.com/office/drawing/2014/main" id="{1782D16F-F3F7-991A-0D6E-CF03299D3613}"/>
              </a:ext>
            </a:extLst>
          </p:cNvPr>
          <p:cNvSpPr txBox="1"/>
          <p:nvPr/>
        </p:nvSpPr>
        <p:spPr>
          <a:xfrm>
            <a:off x="2514600" y="3396726"/>
            <a:ext cx="15458085" cy="2154436"/>
          </a:xfrm>
          <a:prstGeom prst="rect">
            <a:avLst/>
          </a:prstGeom>
        </p:spPr>
        <p:txBody>
          <a:bodyPr wrap="square" lIns="0" tIns="0" rIns="0" bIns="0" rtlCol="0" anchor="t">
            <a:spAutoFit/>
          </a:bodyPr>
          <a:lstStyle/>
          <a:p>
            <a:pPr algn="l">
              <a:lnSpc>
                <a:spcPts val="4196"/>
              </a:lnSpc>
            </a:pPr>
            <a:r>
              <a:rPr lang="en-US" sz="3600" b="1" dirty="0"/>
              <a:t>Phase 1: Requirements Gathering and Analysis </a:t>
            </a:r>
            <a:r>
              <a:rPr lang="en-US" sz="3600" dirty="0"/>
              <a:t>(Duration: 2 weeks)</a:t>
            </a:r>
          </a:p>
          <a:p>
            <a:pPr>
              <a:lnSpc>
                <a:spcPts val="4196"/>
              </a:lnSpc>
            </a:pPr>
            <a:r>
              <a:rPr lang="en-US" sz="3600" b="1" dirty="0"/>
              <a:t>Phase 2: Role-Based Access Control </a:t>
            </a:r>
            <a:r>
              <a:rPr lang="en-US" sz="3600" dirty="0"/>
              <a:t>(Duration: 3 weeks)</a:t>
            </a:r>
          </a:p>
          <a:p>
            <a:pPr algn="l">
              <a:lnSpc>
                <a:spcPts val="4196"/>
              </a:lnSpc>
            </a:pPr>
            <a:r>
              <a:rPr lang="en-US" sz="3600" b="1" dirty="0"/>
              <a:t>Phase 3: Job-Dependency </a:t>
            </a:r>
            <a:r>
              <a:rPr lang="en-US" sz="3600" dirty="0"/>
              <a:t>(Duration: 2 weeks)</a:t>
            </a:r>
          </a:p>
          <a:p>
            <a:pPr algn="l">
              <a:lnSpc>
                <a:spcPts val="4196"/>
              </a:lnSpc>
            </a:pPr>
            <a:r>
              <a:rPr lang="en-US" sz="3600" b="1" dirty="0"/>
              <a:t>Phase 4: System Testing and Optimization </a:t>
            </a:r>
            <a:r>
              <a:rPr lang="en-US" sz="3600" dirty="0"/>
              <a:t>(Duration: 2 weeks)</a:t>
            </a:r>
          </a:p>
        </p:txBody>
      </p:sp>
      <p:sp>
        <p:nvSpPr>
          <p:cNvPr id="13" name="Rectangle 6">
            <a:extLst>
              <a:ext uri="{FF2B5EF4-FFF2-40B4-BE49-F238E27FC236}">
                <a16:creationId xmlns:a16="http://schemas.microsoft.com/office/drawing/2014/main" id="{5FED12A5-997F-C8B0-61E1-98C56C349588}"/>
              </a:ext>
            </a:extLst>
          </p:cNvPr>
          <p:cNvSpPr>
            <a:spLocks noChangeArrowheads="1"/>
          </p:cNvSpPr>
          <p:nvPr/>
        </p:nvSpPr>
        <p:spPr bwMode="auto">
          <a:xfrm>
            <a:off x="3886200" y="815923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5598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D56A5-696F-CF78-7342-46D121EE871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275368-F795-D51A-EBE9-01C60824F38D}"/>
              </a:ext>
            </a:extLst>
          </p:cNvPr>
          <p:cNvGrpSpPr/>
          <p:nvPr/>
        </p:nvGrpSpPr>
        <p:grpSpPr>
          <a:xfrm>
            <a:off x="15199409" y="0"/>
            <a:ext cx="3088591" cy="10287000"/>
            <a:chOff x="0" y="0"/>
            <a:chExt cx="813456" cy="2709333"/>
          </a:xfrm>
        </p:grpSpPr>
        <p:sp>
          <p:nvSpPr>
            <p:cNvPr id="3" name="Freeform 3">
              <a:extLst>
                <a:ext uri="{FF2B5EF4-FFF2-40B4-BE49-F238E27FC236}">
                  <a16:creationId xmlns:a16="http://schemas.microsoft.com/office/drawing/2014/main" id="{0B87EF90-FDDD-0411-6CAC-6BEBCD8FE6D3}"/>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DA6F45D6-CA6A-16D9-3010-76FCA0EF66D9}"/>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C8F48164-702B-6865-6F02-0C0585E1080D}"/>
              </a:ext>
            </a:extLst>
          </p:cNvPr>
          <p:cNvSpPr/>
          <p:nvPr/>
        </p:nvSpPr>
        <p:spPr>
          <a:xfrm rot="16200000">
            <a:off x="14859000" y="791301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BC5872B6-50C7-C053-CC6D-B45A6F491575}"/>
              </a:ext>
            </a:extLst>
          </p:cNvPr>
          <p:cNvSpPr txBox="1"/>
          <p:nvPr/>
        </p:nvSpPr>
        <p:spPr>
          <a:xfrm>
            <a:off x="5638800" y="1257300"/>
            <a:ext cx="7592570" cy="705321"/>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Testing Objectives</a:t>
            </a:r>
          </a:p>
        </p:txBody>
      </p:sp>
      <p:sp>
        <p:nvSpPr>
          <p:cNvPr id="8" name="TextBox 8">
            <a:extLst>
              <a:ext uri="{FF2B5EF4-FFF2-40B4-BE49-F238E27FC236}">
                <a16:creationId xmlns:a16="http://schemas.microsoft.com/office/drawing/2014/main" id="{BCB9B458-7004-68CB-5ED5-383C9DF02E29}"/>
              </a:ext>
            </a:extLst>
          </p:cNvPr>
          <p:cNvSpPr txBox="1"/>
          <p:nvPr/>
        </p:nvSpPr>
        <p:spPr>
          <a:xfrm>
            <a:off x="762000" y="4211586"/>
            <a:ext cx="14437409" cy="1615827"/>
          </a:xfrm>
          <a:prstGeom prst="rect">
            <a:avLst/>
          </a:prstGeom>
        </p:spPr>
        <p:txBody>
          <a:bodyPr wrap="square" lIns="0" tIns="0" rIns="0" bIns="0" rtlCol="0" anchor="t">
            <a:spAutoFit/>
          </a:bodyPr>
          <a:lstStyle/>
          <a:p>
            <a:pPr algn="l">
              <a:lnSpc>
                <a:spcPts val="4196"/>
              </a:lnSpc>
            </a:pPr>
            <a:r>
              <a:rPr lang="en-US" sz="3600" b="1" dirty="0"/>
              <a:t>•	Verify job dependency execution workflows.</a:t>
            </a:r>
          </a:p>
          <a:p>
            <a:pPr algn="l">
              <a:lnSpc>
                <a:spcPts val="4196"/>
              </a:lnSpc>
            </a:pPr>
            <a:r>
              <a:rPr lang="en-US" sz="3600" b="1" dirty="0"/>
              <a:t>•	Validate role-based access control for different user roles.</a:t>
            </a:r>
          </a:p>
          <a:p>
            <a:pPr algn="l">
              <a:lnSpc>
                <a:spcPts val="4196"/>
              </a:lnSpc>
            </a:pPr>
            <a:r>
              <a:rPr lang="en-US" sz="3600" b="1" dirty="0"/>
              <a:t>•	Ensure system stability and performance under high job loads.</a:t>
            </a:r>
          </a:p>
        </p:txBody>
      </p:sp>
    </p:spTree>
    <p:extLst>
      <p:ext uri="{BB962C8B-B14F-4D97-AF65-F5344CB8AC3E}">
        <p14:creationId xmlns:p14="http://schemas.microsoft.com/office/powerpoint/2010/main" val="1633189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4BA14-3C55-3BC5-C790-68AF9EB79C3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8661AFC-2479-5210-8F19-F60CE71B7055}"/>
              </a:ext>
            </a:extLst>
          </p:cNvPr>
          <p:cNvGrpSpPr/>
          <p:nvPr/>
        </p:nvGrpSpPr>
        <p:grpSpPr>
          <a:xfrm>
            <a:off x="-877281" y="0"/>
            <a:ext cx="3088591" cy="10287000"/>
            <a:chOff x="0" y="0"/>
            <a:chExt cx="813456" cy="2709333"/>
          </a:xfrm>
        </p:grpSpPr>
        <p:sp>
          <p:nvSpPr>
            <p:cNvPr id="3" name="Freeform 3">
              <a:extLst>
                <a:ext uri="{FF2B5EF4-FFF2-40B4-BE49-F238E27FC236}">
                  <a16:creationId xmlns:a16="http://schemas.microsoft.com/office/drawing/2014/main" id="{B5259518-71E1-0EEA-296B-494A30BA081D}"/>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718D802A-4D36-2785-5802-A02DD7DB12AA}"/>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6FB6DB5F-3103-FEA2-33E0-8C777C674E15}"/>
              </a:ext>
            </a:extLst>
          </p:cNvPr>
          <p:cNvSpPr/>
          <p:nvPr/>
        </p:nvSpPr>
        <p:spPr>
          <a:xfrm>
            <a:off x="-3725255" y="689027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9733A822-B07F-5066-3914-2047DB873592}"/>
              </a:ext>
            </a:extLst>
          </p:cNvPr>
          <p:cNvSpPr txBox="1"/>
          <p:nvPr/>
        </p:nvSpPr>
        <p:spPr>
          <a:xfrm>
            <a:off x="5638800" y="1257300"/>
            <a:ext cx="7592570" cy="705321"/>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Testing Strategy</a:t>
            </a:r>
          </a:p>
        </p:txBody>
      </p:sp>
      <p:sp>
        <p:nvSpPr>
          <p:cNvPr id="8" name="TextBox 8">
            <a:extLst>
              <a:ext uri="{FF2B5EF4-FFF2-40B4-BE49-F238E27FC236}">
                <a16:creationId xmlns:a16="http://schemas.microsoft.com/office/drawing/2014/main" id="{66988146-4B49-F9AF-E8F4-E0E3D43D859A}"/>
              </a:ext>
            </a:extLst>
          </p:cNvPr>
          <p:cNvSpPr txBox="1"/>
          <p:nvPr/>
        </p:nvSpPr>
        <p:spPr>
          <a:xfrm>
            <a:off x="2514600" y="3396726"/>
            <a:ext cx="15458085" cy="4308872"/>
          </a:xfrm>
          <a:prstGeom prst="rect">
            <a:avLst/>
          </a:prstGeom>
        </p:spPr>
        <p:txBody>
          <a:bodyPr wrap="square" lIns="0" tIns="0" rIns="0" bIns="0" rtlCol="0" anchor="t">
            <a:spAutoFit/>
          </a:bodyPr>
          <a:lstStyle/>
          <a:p>
            <a:pPr algn="l">
              <a:lnSpc>
                <a:spcPts val="4196"/>
              </a:lnSpc>
            </a:pPr>
            <a:r>
              <a:rPr lang="en-US" sz="3600" b="1" dirty="0"/>
              <a:t>•	Functional Testing: </a:t>
            </a:r>
            <a:r>
              <a:rPr lang="en-US" sz="3600" dirty="0"/>
              <a:t>Ensure job dependencies (sequential, conditional, and parallel) and RBAC features work as intended.</a:t>
            </a:r>
          </a:p>
          <a:p>
            <a:pPr algn="l">
              <a:lnSpc>
                <a:spcPts val="4196"/>
              </a:lnSpc>
            </a:pPr>
            <a:r>
              <a:rPr lang="en-US" sz="3600" b="1" dirty="0"/>
              <a:t>•	Performance Testing: </a:t>
            </a:r>
            <a:r>
              <a:rPr lang="en-US" sz="3600" dirty="0"/>
              <a:t>Test the system's efficiency under heavy job scheduling and execution loads.</a:t>
            </a:r>
          </a:p>
          <a:p>
            <a:pPr algn="l">
              <a:lnSpc>
                <a:spcPts val="4196"/>
              </a:lnSpc>
            </a:pPr>
            <a:r>
              <a:rPr lang="en-US" sz="3600" b="1" dirty="0"/>
              <a:t>•	Security Testing: </a:t>
            </a:r>
            <a:r>
              <a:rPr lang="en-US" sz="3600" dirty="0"/>
              <a:t>Validate secure authentication mechanisms, role-based permissions, and data encryption for job details.</a:t>
            </a:r>
          </a:p>
          <a:p>
            <a:pPr algn="l">
              <a:lnSpc>
                <a:spcPts val="4196"/>
              </a:lnSpc>
            </a:pPr>
            <a:r>
              <a:rPr lang="en-US" sz="3600" b="1" dirty="0"/>
              <a:t>•	Usability Testing: </a:t>
            </a:r>
            <a:r>
              <a:rPr lang="en-US" sz="3600" dirty="0"/>
              <a:t>Ensure the </a:t>
            </a:r>
            <a:r>
              <a:rPr lang="en-US" sz="3600" dirty="0" err="1"/>
              <a:t>pgAdmin</a:t>
            </a:r>
            <a:r>
              <a:rPr lang="en-US" sz="3600" dirty="0"/>
              <a:t> UI for dependency visualization and role management is user-friendly.</a:t>
            </a:r>
          </a:p>
        </p:txBody>
      </p:sp>
      <p:sp>
        <p:nvSpPr>
          <p:cNvPr id="13" name="Rectangle 6">
            <a:extLst>
              <a:ext uri="{FF2B5EF4-FFF2-40B4-BE49-F238E27FC236}">
                <a16:creationId xmlns:a16="http://schemas.microsoft.com/office/drawing/2014/main" id="{4A44AF69-9236-1221-F39A-837A39DFE0C9}"/>
              </a:ext>
            </a:extLst>
          </p:cNvPr>
          <p:cNvSpPr>
            <a:spLocks noChangeArrowheads="1"/>
          </p:cNvSpPr>
          <p:nvPr/>
        </p:nvSpPr>
        <p:spPr bwMode="auto">
          <a:xfrm>
            <a:off x="3886200" y="815923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8983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FD012-A4F4-F739-1A1E-07569FC56B1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F4E1995-2FCE-B7A5-0B1B-6B9D0CACACEF}"/>
              </a:ext>
            </a:extLst>
          </p:cNvPr>
          <p:cNvGrpSpPr/>
          <p:nvPr/>
        </p:nvGrpSpPr>
        <p:grpSpPr>
          <a:xfrm>
            <a:off x="15199409" y="0"/>
            <a:ext cx="3088591" cy="10287000"/>
            <a:chOff x="0" y="0"/>
            <a:chExt cx="813456" cy="2709333"/>
          </a:xfrm>
        </p:grpSpPr>
        <p:sp>
          <p:nvSpPr>
            <p:cNvPr id="3" name="Freeform 3">
              <a:extLst>
                <a:ext uri="{FF2B5EF4-FFF2-40B4-BE49-F238E27FC236}">
                  <a16:creationId xmlns:a16="http://schemas.microsoft.com/office/drawing/2014/main" id="{E0CD70B5-1005-F388-3143-3E99CEF6F135}"/>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96F852B0-30F2-DA7F-7D95-39E2B267368C}"/>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21A7449C-1835-49D2-593C-A400C9AABB16}"/>
              </a:ext>
            </a:extLst>
          </p:cNvPr>
          <p:cNvSpPr/>
          <p:nvPr/>
        </p:nvSpPr>
        <p:spPr>
          <a:xfrm rot="16200000">
            <a:off x="14859000" y="791301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96A58762-D26B-8816-F7D4-B87E1FB7792F}"/>
              </a:ext>
            </a:extLst>
          </p:cNvPr>
          <p:cNvSpPr txBox="1"/>
          <p:nvPr/>
        </p:nvSpPr>
        <p:spPr>
          <a:xfrm>
            <a:off x="5638800" y="1257300"/>
            <a:ext cx="7592570" cy="705321"/>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Work Distribution</a:t>
            </a:r>
          </a:p>
        </p:txBody>
      </p:sp>
      <p:sp>
        <p:nvSpPr>
          <p:cNvPr id="8" name="TextBox 8">
            <a:extLst>
              <a:ext uri="{FF2B5EF4-FFF2-40B4-BE49-F238E27FC236}">
                <a16:creationId xmlns:a16="http://schemas.microsoft.com/office/drawing/2014/main" id="{523119DF-9614-7D1A-31C9-9561A6ED7D09}"/>
              </a:ext>
            </a:extLst>
          </p:cNvPr>
          <p:cNvSpPr txBox="1"/>
          <p:nvPr/>
        </p:nvSpPr>
        <p:spPr>
          <a:xfrm>
            <a:off x="762000" y="4211586"/>
            <a:ext cx="14437409" cy="3202928"/>
          </a:xfrm>
          <a:prstGeom prst="rect">
            <a:avLst/>
          </a:prstGeom>
        </p:spPr>
        <p:txBody>
          <a:bodyPr wrap="square" lIns="0" tIns="0" rIns="0" bIns="0" rtlCol="0" anchor="t">
            <a:spAutoFit/>
          </a:bodyPr>
          <a:lstStyle/>
          <a:p>
            <a:pPr algn="l">
              <a:lnSpc>
                <a:spcPts val="4196"/>
              </a:lnSpc>
            </a:pPr>
            <a:r>
              <a:rPr lang="en-US" sz="3200" b="1" dirty="0">
                <a:solidFill>
                  <a:srgbClr val="010101"/>
                </a:solidFill>
                <a:latin typeface="Canva Sans Bold"/>
                <a:ea typeface="Canva Sans Bold"/>
                <a:cs typeface="Canva Sans Bold"/>
                <a:sym typeface="Canva Sans Bold"/>
              </a:rPr>
              <a:t>1)Role-Based Access Control(Critical Priority): Brian and Joel</a:t>
            </a:r>
          </a:p>
          <a:p>
            <a:pPr algn="ctr">
              <a:lnSpc>
                <a:spcPts val="4196"/>
              </a:lnSpc>
            </a:pPr>
            <a:endParaRPr lang="en-GB" sz="3200" dirty="0"/>
          </a:p>
          <a:p>
            <a:pPr algn="ctr">
              <a:lnSpc>
                <a:spcPts val="4196"/>
              </a:lnSpc>
            </a:pPr>
            <a:endParaRPr lang="en-GB" sz="3200" dirty="0"/>
          </a:p>
          <a:p>
            <a:pPr algn="ctr">
              <a:lnSpc>
                <a:spcPts val="4196"/>
              </a:lnSpc>
            </a:pPr>
            <a:endParaRPr lang="en-GB" sz="3200" dirty="0"/>
          </a:p>
          <a:p>
            <a:pPr>
              <a:lnSpc>
                <a:spcPts val="4196"/>
              </a:lnSpc>
            </a:pPr>
            <a:endParaRPr lang="en-GB" sz="3200" dirty="0"/>
          </a:p>
          <a:p>
            <a:pPr algn="l">
              <a:lnSpc>
                <a:spcPts val="4196"/>
              </a:lnSpc>
            </a:pPr>
            <a:r>
              <a:rPr lang="en-US" sz="3200" b="1" dirty="0">
                <a:solidFill>
                  <a:srgbClr val="010101"/>
                </a:solidFill>
                <a:latin typeface="Canva Sans Bold"/>
                <a:ea typeface="Canva Sans Bold"/>
                <a:cs typeface="Canva Sans Bold"/>
                <a:sym typeface="Canva Sans Bold"/>
              </a:rPr>
              <a:t>2)Job Dependencies(High Priority): Brian and Joel</a:t>
            </a:r>
          </a:p>
        </p:txBody>
      </p:sp>
      <p:sp>
        <p:nvSpPr>
          <p:cNvPr id="7" name="Arrow: Down 6">
            <a:extLst>
              <a:ext uri="{FF2B5EF4-FFF2-40B4-BE49-F238E27FC236}">
                <a16:creationId xmlns:a16="http://schemas.microsoft.com/office/drawing/2014/main" id="{80DDA950-69CC-0838-7903-6BC47DA0B300}"/>
              </a:ext>
            </a:extLst>
          </p:cNvPr>
          <p:cNvSpPr/>
          <p:nvPr/>
        </p:nvSpPr>
        <p:spPr>
          <a:xfrm>
            <a:off x="5715000" y="4936750"/>
            <a:ext cx="1676400" cy="1752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82768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6EF3-9E10-780A-3DA9-63861F9131A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35BC0A8-4EB7-D432-1AAB-54235E0AF61B}"/>
              </a:ext>
            </a:extLst>
          </p:cNvPr>
          <p:cNvGrpSpPr/>
          <p:nvPr/>
        </p:nvGrpSpPr>
        <p:grpSpPr>
          <a:xfrm>
            <a:off x="-838200" y="20894"/>
            <a:ext cx="3088591" cy="10287000"/>
            <a:chOff x="0" y="0"/>
            <a:chExt cx="813456" cy="2709333"/>
          </a:xfrm>
        </p:grpSpPr>
        <p:sp>
          <p:nvSpPr>
            <p:cNvPr id="3" name="Freeform 3">
              <a:extLst>
                <a:ext uri="{FF2B5EF4-FFF2-40B4-BE49-F238E27FC236}">
                  <a16:creationId xmlns:a16="http://schemas.microsoft.com/office/drawing/2014/main" id="{F7ACF14E-D330-18CC-72C7-A7E6F1DD0552}"/>
                </a:ext>
              </a:extLst>
            </p:cNvPr>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a:extLst>
                <a:ext uri="{FF2B5EF4-FFF2-40B4-BE49-F238E27FC236}">
                  <a16:creationId xmlns:a16="http://schemas.microsoft.com/office/drawing/2014/main" id="{F0C08BEC-1BEC-08F1-F31E-482670E8C567}"/>
                </a:ext>
              </a:extLst>
            </p:cNvPr>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5" name="Freeform 5">
            <a:extLst>
              <a:ext uri="{FF2B5EF4-FFF2-40B4-BE49-F238E27FC236}">
                <a16:creationId xmlns:a16="http://schemas.microsoft.com/office/drawing/2014/main" id="{9B2DA18B-1E47-DC65-AFBF-071E8CB313D5}"/>
              </a:ext>
            </a:extLst>
          </p:cNvPr>
          <p:cNvSpPr/>
          <p:nvPr/>
        </p:nvSpPr>
        <p:spPr>
          <a:xfrm>
            <a:off x="-3725255" y="6890274"/>
            <a:ext cx="7450509" cy="7450509"/>
          </a:xfrm>
          <a:custGeom>
            <a:avLst/>
            <a:gdLst/>
            <a:ahLst/>
            <a:cxnLst/>
            <a:rect l="l" t="t" r="r" b="b"/>
            <a:pathLst>
              <a:path w="7450509" h="7450509">
                <a:moveTo>
                  <a:pt x="0" y="0"/>
                </a:moveTo>
                <a:lnTo>
                  <a:pt x="7450510" y="0"/>
                </a:lnTo>
                <a:lnTo>
                  <a:pt x="7450510"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a:extLst>
              <a:ext uri="{FF2B5EF4-FFF2-40B4-BE49-F238E27FC236}">
                <a16:creationId xmlns:a16="http://schemas.microsoft.com/office/drawing/2014/main" id="{C7591FB2-A9C9-07CE-EC19-087B81C68C93}"/>
              </a:ext>
            </a:extLst>
          </p:cNvPr>
          <p:cNvSpPr txBox="1"/>
          <p:nvPr/>
        </p:nvSpPr>
        <p:spPr>
          <a:xfrm>
            <a:off x="5638800" y="1257300"/>
            <a:ext cx="7592570" cy="705321"/>
          </a:xfrm>
          <a:prstGeom prst="rect">
            <a:avLst/>
          </a:prstGeom>
        </p:spPr>
        <p:txBody>
          <a:bodyPr lIns="0" tIns="0" rIns="0" bIns="0" rtlCol="0" anchor="t">
            <a:spAutoFit/>
          </a:bodyPr>
          <a:lstStyle/>
          <a:p>
            <a:pPr algn="ctr">
              <a:lnSpc>
                <a:spcPts val="5538"/>
              </a:lnSpc>
            </a:pPr>
            <a:r>
              <a:rPr lang="en-US" sz="5594" b="1" dirty="0">
                <a:solidFill>
                  <a:srgbClr val="227C9D"/>
                </a:solidFill>
                <a:latin typeface="Kollektif Bold"/>
                <a:ea typeface="Kollektif Bold"/>
                <a:cs typeface="Kollektif Bold"/>
                <a:sym typeface="Kollektif Bold"/>
              </a:rPr>
              <a:t>TIMELINE</a:t>
            </a:r>
          </a:p>
        </p:txBody>
      </p:sp>
      <p:sp>
        <p:nvSpPr>
          <p:cNvPr id="8" name="TextBox 8">
            <a:extLst>
              <a:ext uri="{FF2B5EF4-FFF2-40B4-BE49-F238E27FC236}">
                <a16:creationId xmlns:a16="http://schemas.microsoft.com/office/drawing/2014/main" id="{1DFFD07F-8864-6F77-B9CD-AE7BF3423C2C}"/>
              </a:ext>
            </a:extLst>
          </p:cNvPr>
          <p:cNvSpPr txBox="1"/>
          <p:nvPr/>
        </p:nvSpPr>
        <p:spPr>
          <a:xfrm>
            <a:off x="2514600" y="2593162"/>
            <a:ext cx="15458085" cy="2664319"/>
          </a:xfrm>
          <a:prstGeom prst="rect">
            <a:avLst/>
          </a:prstGeom>
        </p:spPr>
        <p:txBody>
          <a:bodyPr wrap="square" lIns="0" tIns="0" rIns="0" bIns="0" rtlCol="0" anchor="t">
            <a:spAutoFit/>
          </a:bodyPr>
          <a:lstStyle/>
          <a:p>
            <a:pPr marL="342900" indent="-342900" algn="l">
              <a:lnSpc>
                <a:spcPts val="4196"/>
              </a:lnSpc>
              <a:buFont typeface="Wingdings" panose="05000000000000000000" pitchFamily="2" charset="2"/>
              <a:buChar char="ü"/>
            </a:pPr>
            <a:r>
              <a:rPr lang="en-US" sz="2400" dirty="0">
                <a:solidFill>
                  <a:srgbClr val="010101"/>
                </a:solidFill>
                <a:latin typeface="Canva Sans Bold"/>
                <a:ea typeface="Canva Sans Bold"/>
                <a:cs typeface="Canva Sans Bold"/>
                <a:sym typeface="Canva Sans Bold"/>
              </a:rPr>
              <a:t>Project Selection</a:t>
            </a:r>
            <a:endParaRPr lang="en-GB" sz="2400" dirty="0">
              <a:sym typeface="Canva Sans Bold"/>
            </a:endParaRPr>
          </a:p>
          <a:p>
            <a:pPr marL="342900" indent="-342900" algn="l">
              <a:lnSpc>
                <a:spcPts val="4196"/>
              </a:lnSpc>
              <a:buFont typeface="Wingdings" panose="05000000000000000000" pitchFamily="2" charset="2"/>
              <a:buChar char="ü"/>
            </a:pPr>
            <a:r>
              <a:rPr lang="en-US" sz="2400" dirty="0">
                <a:solidFill>
                  <a:srgbClr val="010101"/>
                </a:solidFill>
                <a:latin typeface="Canva Sans Bold"/>
                <a:ea typeface="Canva Sans Bold"/>
                <a:cs typeface="Canva Sans Bold"/>
                <a:sym typeface="Canva Sans Bold"/>
              </a:rPr>
              <a:t>First meeting with mentor</a:t>
            </a:r>
          </a:p>
          <a:p>
            <a:pPr marL="342900" indent="-342900" algn="l">
              <a:lnSpc>
                <a:spcPts val="4196"/>
              </a:lnSpc>
              <a:buFont typeface="Wingdings" panose="05000000000000000000" pitchFamily="2" charset="2"/>
              <a:buChar char="ü"/>
            </a:pPr>
            <a:r>
              <a:rPr lang="en-US" sz="2400" dirty="0">
                <a:solidFill>
                  <a:srgbClr val="010101"/>
                </a:solidFill>
                <a:latin typeface="Canva Sans Bold"/>
                <a:ea typeface="Canva Sans Bold"/>
                <a:cs typeface="Canva Sans Bold"/>
                <a:sym typeface="Canva Sans Bold"/>
              </a:rPr>
              <a:t>Installation of PostgreSQL and </a:t>
            </a:r>
            <a:r>
              <a:rPr lang="en-US" sz="2400" dirty="0" err="1">
                <a:solidFill>
                  <a:srgbClr val="010101"/>
                </a:solidFill>
                <a:latin typeface="Canva Sans Bold"/>
                <a:ea typeface="Canva Sans Bold"/>
                <a:cs typeface="Canva Sans Bold"/>
                <a:sym typeface="Canva Sans Bold"/>
              </a:rPr>
              <a:t>pgAgent</a:t>
            </a:r>
            <a:r>
              <a:rPr lang="en-US" sz="2400" dirty="0">
                <a:solidFill>
                  <a:srgbClr val="010101"/>
                </a:solidFill>
                <a:latin typeface="Canva Sans Bold"/>
                <a:ea typeface="Canva Sans Bold"/>
                <a:cs typeface="Canva Sans Bold"/>
                <a:sym typeface="Canva Sans Bold"/>
              </a:rPr>
              <a:t> </a:t>
            </a:r>
          </a:p>
          <a:p>
            <a:pPr marL="342900" indent="-342900" algn="l">
              <a:lnSpc>
                <a:spcPts val="4196"/>
              </a:lnSpc>
              <a:buFont typeface="Wingdings" panose="05000000000000000000" pitchFamily="2" charset="2"/>
              <a:buChar char="ü"/>
            </a:pPr>
            <a:r>
              <a:rPr lang="en-US" sz="2400" dirty="0">
                <a:solidFill>
                  <a:srgbClr val="010101"/>
                </a:solidFill>
                <a:latin typeface="Canva Sans Bold"/>
                <a:ea typeface="Canva Sans Bold"/>
                <a:cs typeface="Canva Sans Bold"/>
                <a:sym typeface="Canva Sans Bold"/>
              </a:rPr>
              <a:t>Creation of table as part of assigned task</a:t>
            </a:r>
          </a:p>
          <a:p>
            <a:pPr marL="342900" indent="-342900" algn="l">
              <a:lnSpc>
                <a:spcPts val="4196"/>
              </a:lnSpc>
              <a:buFont typeface="Wingdings" panose="05000000000000000000" pitchFamily="2" charset="2"/>
              <a:buChar char="ü"/>
            </a:pPr>
            <a:r>
              <a:rPr lang="en-US" sz="2400" dirty="0">
                <a:solidFill>
                  <a:srgbClr val="010101"/>
                </a:solidFill>
                <a:latin typeface="Canva Sans Bold"/>
                <a:ea typeface="Canva Sans Bold"/>
                <a:cs typeface="Canva Sans Bold"/>
                <a:sym typeface="Canva Sans Bold"/>
              </a:rPr>
              <a:t>Second meeting with mentor</a:t>
            </a:r>
          </a:p>
        </p:txBody>
      </p:sp>
      <p:sp>
        <p:nvSpPr>
          <p:cNvPr id="13" name="Rectangle 6">
            <a:extLst>
              <a:ext uri="{FF2B5EF4-FFF2-40B4-BE49-F238E27FC236}">
                <a16:creationId xmlns:a16="http://schemas.microsoft.com/office/drawing/2014/main" id="{02C24960-EA7B-89A7-7948-875C419B35AB}"/>
              </a:ext>
            </a:extLst>
          </p:cNvPr>
          <p:cNvSpPr>
            <a:spLocks noChangeArrowheads="1"/>
          </p:cNvSpPr>
          <p:nvPr/>
        </p:nvSpPr>
        <p:spPr bwMode="auto">
          <a:xfrm>
            <a:off x="3886200" y="815923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9333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3595179" y="3640120"/>
            <a:ext cx="8759190" cy="1981008"/>
          </a:xfrm>
          <a:prstGeom prst="rect">
            <a:avLst/>
          </a:prstGeom>
        </p:spPr>
        <p:txBody>
          <a:bodyPr lIns="0" tIns="0" rIns="0" bIns="0" rtlCol="0" anchor="t">
            <a:spAutoFit/>
          </a:bodyPr>
          <a:lstStyle/>
          <a:p>
            <a:pPr algn="ctr">
              <a:lnSpc>
                <a:spcPts val="16285"/>
              </a:lnSpc>
            </a:pPr>
            <a:r>
              <a:rPr lang="en-US" sz="11632" b="1">
                <a:solidFill>
                  <a:srgbClr val="227C9D"/>
                </a:solidFill>
                <a:latin typeface="Canva Sans Bold"/>
                <a:ea typeface="Canva Sans Bold"/>
                <a:cs typeface="Canva Sans Bold"/>
                <a:sym typeface="Canva Sans Bold"/>
              </a:rPr>
              <a:t>THANK YOU</a:t>
            </a:r>
          </a:p>
        </p:txBody>
      </p:sp>
      <p:sp>
        <p:nvSpPr>
          <p:cNvPr id="3" name="Freeform 3"/>
          <p:cNvSpPr/>
          <p:nvPr/>
        </p:nvSpPr>
        <p:spPr>
          <a:xfrm>
            <a:off x="-5215665" y="7101346"/>
            <a:ext cx="7450509" cy="7450509"/>
          </a:xfrm>
          <a:custGeom>
            <a:avLst/>
            <a:gdLst/>
            <a:ahLst/>
            <a:cxnLst/>
            <a:rect l="l" t="t" r="r" b="b"/>
            <a:pathLst>
              <a:path w="7450509" h="7450509">
                <a:moveTo>
                  <a:pt x="0" y="0"/>
                </a:moveTo>
                <a:lnTo>
                  <a:pt x="7450509" y="0"/>
                </a:lnTo>
                <a:lnTo>
                  <a:pt x="7450509"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5493008" y="0"/>
            <a:ext cx="3088591" cy="10287000"/>
            <a:chOff x="0" y="0"/>
            <a:chExt cx="813456" cy="2709333"/>
          </a:xfrm>
        </p:grpSpPr>
        <p:sp>
          <p:nvSpPr>
            <p:cNvPr id="5" name="Freeform 5"/>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6" name="TextBox 6"/>
            <p:cNvSpPr txBox="1"/>
            <p:nvPr/>
          </p:nvSpPr>
          <p:spPr>
            <a:xfrm>
              <a:off x="0" y="-28575"/>
              <a:ext cx="813456" cy="2737908"/>
            </a:xfrm>
            <a:prstGeom prst="rect">
              <a:avLst/>
            </a:prstGeom>
          </p:spPr>
          <p:txBody>
            <a:bodyPr lIns="50800" tIns="50800" rIns="50800" bIns="50800" rtlCol="0" anchor="ctr"/>
            <a:lstStyle/>
            <a:p>
              <a:pPr algn="ctr">
                <a:lnSpc>
                  <a:spcPts val="2852"/>
                </a:lnSpc>
              </a:pPr>
              <a:endParaRPr/>
            </a:p>
          </p:txBody>
        </p:sp>
      </p:grpSp>
      <p:sp>
        <p:nvSpPr>
          <p:cNvPr id="7" name="Freeform 7"/>
          <p:cNvSpPr/>
          <p:nvPr/>
        </p:nvSpPr>
        <p:spPr>
          <a:xfrm>
            <a:off x="15566288" y="-3737498"/>
            <a:ext cx="7450509" cy="7450509"/>
          </a:xfrm>
          <a:custGeom>
            <a:avLst/>
            <a:gdLst/>
            <a:ahLst/>
            <a:cxnLst/>
            <a:rect l="l" t="t" r="r" b="b"/>
            <a:pathLst>
              <a:path w="7450509" h="7450509">
                <a:moveTo>
                  <a:pt x="0" y="0"/>
                </a:moveTo>
                <a:lnTo>
                  <a:pt x="7450509" y="0"/>
                </a:lnTo>
                <a:lnTo>
                  <a:pt x="7450509" y="7450509"/>
                </a:lnTo>
                <a:lnTo>
                  <a:pt x="0" y="74505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203</TotalTime>
  <Words>801</Words>
  <Application>Microsoft Office PowerPoint</Application>
  <PresentationFormat>Custom</PresentationFormat>
  <Paragraphs>77</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Wingdings</vt:lpstr>
      <vt:lpstr>Kollektif Bold</vt:lpstr>
      <vt:lpstr>Arial</vt:lpstr>
      <vt:lpstr>Canva Sans</vt:lpstr>
      <vt:lpstr>Bahnschrift</vt:lpstr>
      <vt:lpstr>Kollektif</vt:lpstr>
      <vt:lpstr>Bricolage Grotesque 18 Condensed Bold</vt:lpstr>
      <vt:lpstr>Calibri</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INFOGRAPHIC PRESENTATION</dc:title>
  <dc:creator>Brian Christopher</dc:creator>
  <cp:lastModifiedBy>Brian Christopher</cp:lastModifiedBy>
  <cp:revision>18</cp:revision>
  <dcterms:created xsi:type="dcterms:W3CDTF">2006-08-16T00:00:00Z</dcterms:created>
  <dcterms:modified xsi:type="dcterms:W3CDTF">2025-01-30T02:59:49Z</dcterms:modified>
  <dc:identifier>DAGPJq9xzwc</dc:identifier>
</cp:coreProperties>
</file>